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23.xml"/>
  <Override ContentType="application/vnd.openxmlformats-officedocument.presentationml.comments+xml" PartName="/ppt/comments/comment6.xml"/>
  <Override ContentType="application/vnd.openxmlformats-officedocument.presentationml.comments+xml" PartName="/ppt/comments/comment19.xml"/>
  <Override ContentType="application/vnd.openxmlformats-officedocument.presentationml.comments+xml" PartName="/ppt/comments/comment24.xml"/>
  <Override ContentType="application/vnd.openxmlformats-officedocument.presentationml.comments+xml" PartName="/ppt/comments/comment15.xml"/>
  <Override ContentType="application/vnd.openxmlformats-officedocument.presentationml.comments+xml" PartName="/ppt/comments/comment2.xml"/>
  <Override ContentType="application/vnd.openxmlformats-officedocument.presentationml.comments+xml" PartName="/ppt/comments/comment22.xml"/>
  <Override ContentType="application/vnd.openxmlformats-officedocument.presentationml.comments+xml" PartName="/ppt/comments/comment7.xml"/>
  <Override ContentType="application/vnd.openxmlformats-officedocument.presentationml.comments+xml" PartName="/ppt/comments/comment18.xml"/>
  <Override ContentType="application/vnd.openxmlformats-officedocument.presentationml.comments+xml" PartName="/ppt/comments/comment14.xml"/>
  <Override ContentType="application/vnd.openxmlformats-officedocument.presentationml.comments+xml" PartName="/ppt/comments/comment27.xml"/>
  <Override ContentType="application/vnd.openxmlformats-officedocument.presentationml.comments+xml" PartName="/ppt/comments/comment17.xml"/>
  <Override ContentType="application/vnd.openxmlformats-officedocument.presentationml.comments+xml" PartName="/ppt/comments/comment8.xml"/>
  <Override ContentType="application/vnd.openxmlformats-officedocument.presentationml.comments+xml" PartName="/ppt/comments/comment21.xml"/>
  <Override ContentType="application/vnd.openxmlformats-officedocument.presentationml.comments+xml" PartName="/ppt/comments/comment20.xml"/>
  <Override ContentType="application/vnd.openxmlformats-officedocument.presentationml.comments+xml" PartName="/ppt/comments/comment3.xml"/>
  <Override ContentType="application/vnd.openxmlformats-officedocument.presentationml.comments+xml" PartName="/ppt/comments/comment26.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25.xml"/>
  <Override ContentType="application/vnd.openxmlformats-officedocument.presentationml.comments+xml" PartName="/ppt/comments/comment1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Ubuntu"/>
      <p:regular r:id="rId71"/>
      <p:bold r:id="rId72"/>
      <p:italic r:id="rId73"/>
      <p:boldItalic r:id="rId74"/>
    </p:embeddedFont>
    <p:embeddedFont>
      <p:font typeface="Roboto"/>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7" name="Humberto VALERA"/>
  <p:cmAuthor clrIdx="1" id="1" initials="" lastIdx="16" name="Jose Manuel Cornejo Lupa"/>
  <p:cmAuthor clrIdx="2" id="2" initials="" lastIdx="2" name="Luis Fredy Huachaca Varga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6814E3-50DF-4641-A842-31702C7681FB}">
  <a:tblStyle styleId="{426814E3-50DF-4641-A842-31702C7681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00C7C72-F28C-49EA-99AB-05BCD800B0C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Ubuntu-italic.fntdata"/><Relationship Id="rId72" Type="http://schemas.openxmlformats.org/officeDocument/2006/relationships/font" Target="fonts/Ubuntu-bold.fntdata"/><Relationship Id="rId31" Type="http://schemas.openxmlformats.org/officeDocument/2006/relationships/slide" Target="slides/slide25.xml"/><Relationship Id="rId75" Type="http://schemas.openxmlformats.org/officeDocument/2006/relationships/font" Target="fonts/Roboto-regular.fntdata"/><Relationship Id="rId30" Type="http://schemas.openxmlformats.org/officeDocument/2006/relationships/slide" Target="slides/slide24.xml"/><Relationship Id="rId74" Type="http://schemas.openxmlformats.org/officeDocument/2006/relationships/font" Target="fonts/Ubuntu-boldItalic.fntdata"/><Relationship Id="rId33" Type="http://schemas.openxmlformats.org/officeDocument/2006/relationships/slide" Target="slides/slide27.xml"/><Relationship Id="rId77" Type="http://schemas.openxmlformats.org/officeDocument/2006/relationships/font" Target="fonts/Roboto-italic.fntdata"/><Relationship Id="rId32" Type="http://schemas.openxmlformats.org/officeDocument/2006/relationships/slide" Target="slides/slide26.xml"/><Relationship Id="rId76" Type="http://schemas.openxmlformats.org/officeDocument/2006/relationships/font" Target="fonts/Roboto-bold.fntdata"/><Relationship Id="rId35" Type="http://schemas.openxmlformats.org/officeDocument/2006/relationships/slide" Target="slides/slide29.xml"/><Relationship Id="rId34" Type="http://schemas.openxmlformats.org/officeDocument/2006/relationships/slide" Target="slides/slide28.xml"/><Relationship Id="rId78" Type="http://schemas.openxmlformats.org/officeDocument/2006/relationships/font" Target="fonts/Roboto-boldItalic.fntdata"/><Relationship Id="rId71" Type="http://schemas.openxmlformats.org/officeDocument/2006/relationships/font" Target="fonts/Ubuntu-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13T00:45:51.231">
    <p:pos x="2840" y="1526"/>
    <p:text>? Explicación?</p:text>
  </p:cm>
  <p:cm authorId="1" idx="1" dt="2026-01-13T00:45:33.271">
    <p:pos x="2840" y="1526"/>
    <p:text>Añadi una leyenda por cada una de las líneas.</p:text>
  </p:cm>
  <p:cm authorId="1" idx="2" dt="2026-01-13T00:45:51.231">
    <p:pos x="2840" y="1526"/>
    <p:text>No puse toda la funcionalidad de cada servicio, eso está en otra diapositiva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1-13T19:14:14.561">
    <p:pos x="1721" y="1688"/>
    <p:text>insertar verbos en las flechas. Un grafico que se pueda ver y leer y se entienda sin necesidad de explicacion adicional</p:text>
  </p:cm>
  <p:cm authorId="1" idx="4" dt="2026-01-13T08:34:44.742">
    <p:pos x="6000" y="0"/>
    <p:text>En esta diapositiva se detalle el funcionamiento de cada servicio</p:text>
  </p:cm>
  <p:cm authorId="1" idx="5" dt="2026-01-13T01:01:02.402">
    <p:pos x="6000" y="0"/>
    <p:text>Ademas en el grafico se colocaron las principales tecnologias de uso de cada servicio</p:text>
  </p:cm>
  <p:cm authorId="0" idx="2" dt="2026-01-13T08:34:44.742">
    <p:pos x="6000" y="0"/>
    <p:text>Super. Necesito otro gráfico de ésto</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6" dt="2026-01-13T19:20:24.918">
    <p:pos x="6000" y="0"/>
    <p:text>Si se puede incluir este grafico con el anterior para hacerlo todo mas sintetico mezclar el I/O con la arquitectura del benchmark</p:text>
  </p:cm>
  <p:cm authorId="1" idx="7" dt="2026-01-13T08:38:18.002">
    <p:pos x="6000" y="100"/>
    <p:text>El anterior gráfico mostraba parámetros de entrada y salida con diferentes formatos técnicos</p:text>
  </p:cm>
  <p:cm authorId="1" idx="8" dt="2026-01-13T01:37:02.053">
    <p:pos x="6000" y="100"/>
    <p:text>Ahora se divide en parámetros y en un gráfico de un caso de funcionamiento de Teastore</p:text>
  </p:cm>
  <p:cm authorId="0" idx="3" dt="2026-01-13T08:38:18.002">
    <p:pos x="6000" y="100"/>
    <p:text>ok, mejor: pero hay que definir mejor: "acciones de usuario", Elimina los muniecos del inicio, define el flujo dentro de teastores y define "trazas. Hay que rehacer mejor éste gráfico</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9" dt="2026-01-13T19:18:56.000">
    <p:pos x="1597" y="422"/>
    <p:text>especificacion de "Obtencion de datos" / Que datos?</p:text>
  </p:cm>
  <p:cm authorId="0" idx="4" dt="2026-01-13T08:41:48.225">
    <p:pos x="4013" y="127"/>
    <p:text>JPA?</p:text>
  </p:cm>
  <p:cm authorId="0" idx="5" dt="2026-01-13T17:20:28.131">
    <p:pos x="96" y="422"/>
    <p:text>No entiendo</p:text>
  </p:cm>
  <p:cm authorId="1" idx="10" dt="2026-01-13T17:20:28.131">
    <p:pos x="96" y="422"/>
    <p:text>JPA es una tecnologia de manejo de caches de java, al ser solo tecnico y no funcional lo he eliminado del diagrama</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1" dt="2026-01-13T19:23:34.047">
    <p:pos x="6000" y="0"/>
    <p:text>sintentacion de este grafico aun mas. debe entrar en una sola diapo</p:text>
  </p:cm>
  <p:cm authorId="0" idx="6" dt="2026-01-13T08:42:49.152">
    <p:pos x="2156" y="293"/>
    <p:text>No entiendo  ésto de la lógica de imágenes</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1-13T08:46:29.082">
    <p:pos x="159" y="1339"/>
    <p:text>?????</p:text>
  </p:cm>
  <p:cm authorId="0" idx="8" dt="2026-01-13T08:46:29.082">
    <p:pos x="159" y="1339"/>
    <p:text>?????????????????????????????</p:text>
  </p:cm>
  <p:cm authorId="0" idx="9" dt="2026-01-13T08:45:20.017">
    <p:pos x="131" y="265"/>
    <p:text>Y para los otros componentes?</p:text>
  </p:cm>
  <p:cm authorId="0" idx="10" dt="2026-01-13T08:47:17.893">
    <p:pos x="159" y="1439"/>
    <p:text>Lo paras a las 140 segundos?</p:text>
  </p:cm>
  <p:cm authorId="0" idx="11" dt="2026-01-07T13:54:15.844">
    <p:pos x="131" y="365"/>
    <p:text>Archivos que consume ecofloc?</p:text>
  </p:cm>
  <p:cm authorId="0" idx="12" dt="2026-01-07T14:50:23.604">
    <p:pos x="159" y="1539"/>
    <p:text>Qué son esos números?</p:text>
  </p:cm>
  <p:cm authorId="2" idx="1" dt="2026-01-07T14:50:23.604">
    <p:pos x="159" y="1539"/>
    <p:text>son el nro de requests</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6-01-07T13:58:03.650">
    <p:pos x="131" y="265"/>
    <p:text>No entiendo</p:text>
  </p:cm>
  <p:cm authorId="0" idx="14" dt="2026-01-07T13:57:02.714">
    <p:pos x="131" y="365"/>
    <p:text>cuando todos los "contenedores" de los pods</p:text>
  </p:cm>
  <p:cm authorId="0" idx="15" dt="2026-01-07T13:57:02.714">
    <p:pos x="131" y="365"/>
    <p:text>falta una descripción de la perte técnica y funcional</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2" dt="2026-01-13T03:21:31.742">
    <p:pos x="196" y="719"/>
    <p:text>Se necesita mas resultados</p:text>
  </p:cm>
  <p:cm authorId="1" idx="13" dt="2026-01-13T03:21:31.742">
    <p:pos x="196" y="719"/>
    <p:text>Muchos resultados anteriores solo tienen las lecturas de containers de kubectl, kubeadm, containerd y no los containers de teastore-*</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01-13T08:53:11.824">
    <p:pos x="96" y="456"/>
    <p:text>Tiempo Normalizado?? Dónde está el tiempo aquí? qué quiere decir ésta gráfica?</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6-01-13T08:54:26.674">
    <p:pos x="62" y="472"/>
    <p:text>Ok; pero habría que elegir otras gráficas</p:text>
  </p:cm>
  <p:cm authorId="0" idx="18" dt="2026-01-13T08:54:26.674">
    <p:pos x="62" y="472"/>
    <p:text>hay relación entre los 4?</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6-01-13T08:53:34.640">
    <p:pos x="96" y="456"/>
    <p:text>no se entiende</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4" dt="2025-12-16T16:21:19.429">
    <p:pos x="915" y="1439"/>
    <p:text>cambiar este título, solo es una referencia</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0" dt="2026-01-07T14:02:36.285">
    <p:pos x="395" y="1028"/>
    <p:text>Ok, aquí falta cruzar estos datos con la cantidad de pods y contenedores desplegados.
falta también analizar los datos de "tendencia" de sheduling: Por cada 100 o 1000 ejecuciones dónde se planifica x o y pod? Por qué? Qué consecuencias a nivel de energía hay?</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6-01-07T14:10:02.394">
    <p:pos x="370" y="434"/>
    <p:text>Éso debería aparecer en el gráfico</p:text>
  </p:cm>
  <p:cm authorId="0" idx="22" dt="2026-01-07T14:03:53.871">
    <p:pos x="370" y="534"/>
    <p:text>Por qué? Es un initcontainer?</p:tex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5" dt="2026-01-13T19:35:54.341">
    <p:pos x="196" y="725"/>
    <p:text>Añadir grafico de campana de Gauss para soportar la decision que estas son las distribuciones mas usadas</p:text>
  </p:cm>
  <p:cm authorId="0" idx="23" dt="2026-01-13T08:58:31.868">
    <p:pos x="325" y="785"/>
    <p:text>Ésto sale de la tabla de mǽs arriba? Si  es así, éstas distribuciones son coherentes?</p:tex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4" dt="2026-01-13T09:02:53.655">
    <p:pos x="936" y="681"/>
    <p:text>Hay que cambiar de escala o normalizar ésto. Quiaś lo mejor sea cabiar de ángulo de ataque</p:text>
  </p:cm>
</p:cmLst>
</file>

<file path=ppt/comments/comment1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5" dt="2026-01-13T09:03:13.033">
    <p:pos x="936" y="681"/>
    <p:text>Idem....tenemos 2K y 20</p:text>
  </p:cm>
</p:cmLst>
</file>

<file path=ppt/comments/comment1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6" dt="2026-01-13T09:05:07.954">
    <p:pos x="625" y="1318"/>
    <p:text>y el pod sched y los otros? 
-&gt; Idem? quizás comparar un mismo grupo funcional por despliegue</p:text>
  </p:cm>
</p:cmLst>
</file>

<file path=ppt/comments/comment1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7" dt="2026-01-07T14:11:24.624">
    <p:pos x="257" y="975"/>
    <p:text>Dónde vemos?</p:text>
  </p:cm>
  <p:cm authorId="0" idx="28" dt="2026-01-07T14:11:39.451">
    <p:pos x="257" y="1075"/>
    <p:text>ésto no se ve en gráficos</p:text>
  </p:cm>
  <p:cm authorId="0" idx="29" dt="2026-01-07T14:10:46.683">
    <p:pos x="32" y="0"/>
    <p:text>Pero el tiempo no aparece en las gráficas, no?</p:text>
  </p:cm>
</p:cmLst>
</file>

<file path=ppt/comments/comment2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0" dt="2026-01-07T14:20:02.199">
    <p:pos x="96" y="1105"/>
    <p:text>Qué diferencia hay con el anterior?</p:text>
  </p:cm>
</p:cmLst>
</file>

<file path=ppt/comments/comment2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1" dt="2026-01-07T14:20:31.772">
    <p:pos x="146" y="1162"/>
    <p:text>Idem...qué diferencia con los anteriores?</p:text>
  </p:cm>
</p:cmLst>
</file>

<file path=ppt/comments/comment2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2" dt="2026-01-07T14:51:30.931">
    <p:pos x="189" y="1035"/>
    <p:text>Ok, ésto hay que graficarlo junto con las otras variables. Hay que discutir también cuáles son las razones de éste comportamiento (sobrecargo de flannel o calico?)</p:text>
  </p:cm>
  <p:cm authorId="2" idx="2" dt="2026-01-07T14:51:30.931">
    <p:pos x="189" y="1035"/>
    <p:text>calico</p:text>
  </p:cm>
</p:cmLst>
</file>

<file path=ppt/comments/comment2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3" dt="2026-01-07T14:23:22.443">
    <p:pos x="96" y="1184"/>
    <p:text>IDEM que los anteriores. Cada gráfico representa 1  nodo?</p:text>
  </p:cm>
</p:cmLst>
</file>

<file path=ppt/comments/comment2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4" dt="2026-01-07T14:23:37.622">
    <p:pos x="189" y="1035"/>
    <p:text>Aún en carga media?</p:text>
  </p:cm>
</p:cmLst>
</file>

<file path=ppt/comments/comment2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5" dt="2026-01-07T14:23:58.865">
    <p:pos x="96" y="968"/>
    <p:text>Idem que los anteriores</p:text>
  </p:cm>
</p:cmLst>
</file>

<file path=ppt/comments/comment2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6" dt="2026-01-07T14:24:18.081">
    <p:pos x="189" y="1035"/>
    <p:text>Sigue siendo alto...es normal?</p:text>
  </p:cm>
</p:cmLst>
</file>

<file path=ppt/comments/comment2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7" dt="2025-12-16T12:06:51.227">
    <p:pos x="196" y="693"/>
    <p:text>No se entiende: 
- Falta explicación
- Falta claridad (no se puede deducir un comportamiento energético a partir de ésto)
- Qué puedo concluir respecto a las transacciones y la energía?</p:text>
  </p:cm>
  <p:cm authorId="1" idx="16" dt="2025-12-12T15:05:44.120">
    <p:pos x="6000" y="0"/>
    <p:text>Aquí además de las gráficas de correlación, deben estar los gráficos de medición total de energía vs los paquetes perdidos y entregados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000f9ccc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000f9ccc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000f9ccc8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000f9ccc8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050">
                <a:solidFill>
                  <a:srgbClr val="1F1F1F"/>
                </a:solidFill>
                <a:highlight>
                  <a:srgbClr val="FFFFFF"/>
                </a:highlight>
                <a:latin typeface="Roboto"/>
                <a:ea typeface="Roboto"/>
                <a:cs typeface="Roboto"/>
                <a:sym typeface="Roboto"/>
              </a:rPr>
              <a:t>Esta es la relacion de cada contenedor, el registry es el que mantiene la informacion de funcionamiento de cada contenedor, cuando la BD esta llenada  y el servicio de </a:t>
            </a:r>
            <a:r>
              <a:rPr lang="es" sz="1050">
                <a:solidFill>
                  <a:srgbClr val="1F1F1F"/>
                </a:solidFill>
                <a:highlight>
                  <a:srgbClr val="FFFFFF"/>
                </a:highlight>
                <a:latin typeface="Roboto"/>
                <a:ea typeface="Roboto"/>
                <a:cs typeface="Roboto"/>
                <a:sym typeface="Roboto"/>
              </a:rPr>
              <a:t>imágenes</a:t>
            </a:r>
            <a:r>
              <a:rPr lang="es" sz="1050">
                <a:solidFill>
                  <a:srgbClr val="1F1F1F"/>
                </a:solidFill>
                <a:highlight>
                  <a:srgbClr val="FFFFFF"/>
                </a:highlight>
                <a:latin typeface="Roboto"/>
                <a:ea typeface="Roboto"/>
                <a:cs typeface="Roboto"/>
                <a:sym typeface="Roboto"/>
              </a:rPr>
              <a:t> esta listo informan a Registry para que envie informacion de disponibilidad en el benchmark, una vez eso pasa </a:t>
            </a:r>
            <a:r>
              <a:rPr lang="es" sz="1050">
                <a:solidFill>
                  <a:srgbClr val="1F1F1F"/>
                </a:solidFill>
                <a:highlight>
                  <a:srgbClr val="FFFFFF"/>
                </a:highlight>
                <a:latin typeface="Roboto"/>
                <a:ea typeface="Roboto"/>
                <a:cs typeface="Roboto"/>
                <a:sym typeface="Roboto"/>
              </a:rPr>
              <a:t>está</a:t>
            </a:r>
            <a:r>
              <a:rPr lang="es" sz="1050">
                <a:solidFill>
                  <a:srgbClr val="1F1F1F"/>
                </a:solidFill>
                <a:highlight>
                  <a:srgbClr val="FFFFFF"/>
                </a:highlight>
                <a:latin typeface="Roboto"/>
                <a:ea typeface="Roboto"/>
                <a:cs typeface="Roboto"/>
                <a:sym typeface="Roboto"/>
              </a:rPr>
              <a:t> listo para ejecutar sus operaciones de benchmark.</a:t>
            </a:r>
            <a:endParaRPr sz="1050">
              <a:solidFill>
                <a:srgbClr val="1F1F1F"/>
              </a:solidFill>
              <a:highlight>
                <a:srgbClr val="FFFFFF"/>
              </a:highlight>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es">
                <a:solidFill>
                  <a:schemeClr val="dk1"/>
                </a:solidFill>
              </a:rPr>
              <a:t>Image Provider</a:t>
            </a:r>
            <a:r>
              <a:rPr lang="es">
                <a:solidFill>
                  <a:schemeClr val="dk1"/>
                </a:solidFill>
              </a:rPr>
              <a:t>: solicita imágenes para mostrar.</a:t>
            </a:r>
            <a:endParaRPr>
              <a:solidFill>
                <a:schemeClr val="dk1"/>
              </a:solidFill>
            </a:endParaRPr>
          </a:p>
          <a:p>
            <a:pPr indent="-298450" lvl="0" marL="457200" rtl="0" algn="l">
              <a:spcBef>
                <a:spcPts val="0"/>
              </a:spcBef>
              <a:spcAft>
                <a:spcPts val="0"/>
              </a:spcAft>
              <a:buClr>
                <a:schemeClr val="dk1"/>
              </a:buClr>
              <a:buSzPts val="1100"/>
              <a:buChar char="●"/>
            </a:pPr>
            <a:r>
              <a:rPr b="1" lang="es">
                <a:solidFill>
                  <a:schemeClr val="dk1"/>
                </a:solidFill>
              </a:rPr>
              <a:t>WebUI</a:t>
            </a:r>
            <a:r>
              <a:rPr lang="es">
                <a:solidFill>
                  <a:schemeClr val="dk1"/>
                </a:solidFill>
              </a:rPr>
              <a:t>: Es la interfaz de usuario que presenta las páginas web para navegar, buscar productos, ver detalles, y gestionar el carrito y ordenes. Se comunica con los otros servicios enviando solicitudes REST para obtener datos de productos, imágenes, recomendaciones, y para gestionar sesiones del usuario. Principalmente interactúa con:</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Persistence</a:t>
            </a:r>
            <a:r>
              <a:rPr lang="es">
                <a:solidFill>
                  <a:schemeClr val="dk1"/>
                </a:solidFill>
              </a:rPr>
              <a:t>: obtiene datos de productos y usuarios.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Recommender</a:t>
            </a:r>
            <a:r>
              <a:rPr lang="es">
                <a:solidFill>
                  <a:schemeClr val="dk1"/>
                </a:solidFill>
              </a:rPr>
              <a:t>: obtiene recomendaciones relacionadas.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Auth</a:t>
            </a:r>
            <a:r>
              <a:rPr lang="es">
                <a:solidFill>
                  <a:schemeClr val="dk1"/>
                </a:solidFill>
              </a:rPr>
              <a:t>: verifica sesiones y login.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startAt="2"/>
            </a:pPr>
            <a:r>
              <a:rPr b="1" lang="es">
                <a:solidFill>
                  <a:schemeClr val="dk1"/>
                </a:solidFill>
              </a:rPr>
              <a:t>Image Provider</a:t>
            </a:r>
            <a:r>
              <a:rPr lang="es">
                <a:solidFill>
                  <a:schemeClr val="dk1"/>
                </a:solidFill>
              </a:rPr>
              <a:t>: Suministra imágenes optimizadas y en diferentes tamaños. Se conecta con: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WebUI</a:t>
            </a:r>
            <a:r>
              <a:rPr lang="es">
                <a:solidFill>
                  <a:schemeClr val="dk1"/>
                </a:solidFill>
              </a:rPr>
              <a:t>: recibe solicitudes para imágenes y envía las imágenes escaladas o cacheadas.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Persistence</a:t>
            </a:r>
            <a:r>
              <a:rPr lang="es">
                <a:solidFill>
                  <a:schemeClr val="dk1"/>
                </a:solidFill>
              </a:rPr>
              <a:t>: obtiene imágenes originales cuando empieza y las almacena en caché.</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startAt="3"/>
            </a:pPr>
            <a:r>
              <a:rPr b="1" lang="es">
                <a:solidFill>
                  <a:schemeClr val="dk1"/>
                </a:solidFill>
              </a:rPr>
              <a:t>Persistence</a:t>
            </a:r>
            <a:r>
              <a:rPr lang="es">
                <a:solidFill>
                  <a:schemeClr val="dk1"/>
                </a:solidFill>
              </a:rPr>
              <a:t>: Es la base de datos que guarda productos, usuario, órdenes, y otra info relacionada. Se conecta con: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WebUI</a:t>
            </a:r>
            <a:r>
              <a:rPr lang="es">
                <a:solidFill>
                  <a:schemeClr val="dk1"/>
                </a:solidFill>
              </a:rPr>
              <a:t>, </a:t>
            </a:r>
            <a:r>
              <a:rPr b="1" lang="es">
                <a:solidFill>
                  <a:schemeClr val="dk1"/>
                </a:solidFill>
              </a:rPr>
              <a:t>Image Provider</a:t>
            </a:r>
            <a:r>
              <a:rPr lang="es">
                <a:solidFill>
                  <a:schemeClr val="dk1"/>
                </a:solidFill>
              </a:rPr>
              <a:t>, y </a:t>
            </a:r>
            <a:r>
              <a:rPr b="1" lang="es">
                <a:solidFill>
                  <a:schemeClr val="dk1"/>
                </a:solidFill>
              </a:rPr>
              <a:t>Recommender</a:t>
            </a:r>
            <a:r>
              <a:rPr lang="es">
                <a:solidFill>
                  <a:schemeClr val="dk1"/>
                </a:solidFill>
              </a:rPr>
              <a:t>: envía y recibe datos necesarios para las operaciones (productos, historiales, imágenes, recomendaciones).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startAt="4"/>
            </a:pPr>
            <a:r>
              <a:rPr b="1" lang="es">
                <a:solidFill>
                  <a:schemeClr val="dk1"/>
                </a:solidFill>
              </a:rPr>
              <a:t>Recommender</a:t>
            </a:r>
            <a:r>
              <a:rPr lang="es">
                <a:solidFill>
                  <a:schemeClr val="dk1"/>
                </a:solidFill>
              </a:rPr>
              <a:t>: Genera recomendaciones de productos basándose en compras anteriores y en el carrito actual del usuario. Se conecta con: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WebUI</a:t>
            </a:r>
            <a:r>
              <a:rPr lang="es">
                <a:solidFill>
                  <a:schemeClr val="dk1"/>
                </a:solidFill>
              </a:rPr>
              <a:t>: proporciona recomendaciones para mostrar en las páginas.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s">
                <a:solidFill>
                  <a:schemeClr val="dk1"/>
                </a:solidFill>
              </a:rPr>
              <a:t>Persistence</a:t>
            </a:r>
            <a:r>
              <a:rPr lang="es">
                <a:solidFill>
                  <a:schemeClr val="dk1"/>
                </a:solidFill>
              </a:rPr>
              <a:t>: obtiene datos históricos para entrenar y recomendar.</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startAt="5"/>
            </a:pPr>
            <a:r>
              <a:rPr b="1" lang="es">
                <a:solidFill>
                  <a:schemeClr val="dk1"/>
                </a:solidFill>
              </a:rPr>
              <a:t>Registry</a:t>
            </a:r>
            <a:r>
              <a:rPr lang="es">
                <a:solidFill>
                  <a:schemeClr val="dk1"/>
                </a:solidFill>
              </a:rPr>
              <a:t>: Es la base para descubrimiento de servicios y balanceo de carga. Todos los servicios (WebUI, Image, Persistence, Recommender, Auth) se registran y consultan en ella para encontrar otras instancias disponibles y distribuir solicitudes.</a:t>
            </a:r>
            <a:br>
              <a:rPr lang="e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startAt="5"/>
            </a:pPr>
            <a:r>
              <a:rPr b="1" lang="es">
                <a:solidFill>
                  <a:schemeClr val="dk1"/>
                </a:solidFill>
              </a:rPr>
              <a:t>Auth </a:t>
            </a:r>
            <a:r>
              <a:rPr lang="es">
                <a:solidFill>
                  <a:schemeClr val="dk1"/>
                </a:solidFill>
              </a:rPr>
              <a:t>: Maneja la verificación de inicio de sesión y sesiones del usuario. Se conecta con </a:t>
            </a:r>
            <a:r>
              <a:rPr b="1" lang="es">
                <a:solidFill>
                  <a:schemeClr val="dk1"/>
                </a:solidFill>
              </a:rPr>
              <a:t>WebUI</a:t>
            </a:r>
            <a:r>
              <a:rPr lang="es">
                <a:solidFill>
                  <a:schemeClr val="dk1"/>
                </a:solidFill>
              </a:rPr>
              <a:t>: valida sesiones y credenciales.</a:t>
            </a:r>
            <a:r>
              <a:rPr b="1" lang="es">
                <a:solidFill>
                  <a:schemeClr val="dk1"/>
                </a:solidFill>
              </a:rPr>
              <a:t>Persistence</a:t>
            </a:r>
            <a:r>
              <a:rPr lang="es">
                <a:solidFill>
                  <a:schemeClr val="dk1"/>
                </a:solidFill>
              </a:rPr>
              <a:t>: almacena información de sesiones y usuarios.</a:t>
            </a:r>
            <a:endParaRPr>
              <a:solidFill>
                <a:schemeClr val="dk1"/>
              </a:solidFill>
            </a:endParaRPr>
          </a:p>
          <a:p>
            <a:pPr indent="0" lvl="0" marL="0" rtl="0" algn="l">
              <a:spcBef>
                <a:spcPts val="1200"/>
              </a:spcBef>
              <a:spcAft>
                <a:spcPts val="0"/>
              </a:spcAft>
              <a:buNone/>
            </a:pPr>
            <a:r>
              <a:t/>
            </a:r>
            <a:endParaRPr sz="1050">
              <a:solidFill>
                <a:srgbClr val="1F1F1F"/>
              </a:solidFill>
              <a:highlight>
                <a:srgbClr val="FFFFFF"/>
              </a:highlight>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69669f4f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69669f4f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rgbClr val="1F1F1F"/>
              </a:solidFill>
              <a:highlight>
                <a:srgbClr val="FFFFFF"/>
              </a:highlight>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000f9ccc8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000f9ccc8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69669f4f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69669f4f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69669f4f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69669f4f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2b17501a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2b17501a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000f9ccc8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000f9ccc8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sacar los pids de la arquitectura creamos un script que hace crictl ps a cada contenedor de cada nodo, dandonos todos los pids que estan ejecutando en cada contenedor, luego ponemos esos pids como entrada para ecofloc y scaphandre y medimos la energia en 3 etapas, la 1ra etapa es el tiempo de descarga de imagenes y schedulling de pods, la 2da etapa es la creacion de db, imagenes y categorias y la 3ra etapa es la ejecucion de los requests.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Para la ejecucion de los requests tenemos 6 configuraciones:</a:t>
            </a:r>
            <a:br>
              <a:rPr lang="es"/>
            </a:br>
            <a:br>
              <a:rPr lang="es"/>
            </a:br>
            <a:r>
              <a:rPr lang="es"/>
              <a:t>1. accion de comprar con sobregarga baja(0-120) media(0-1000) alta(0-2000)</a:t>
            </a:r>
            <a:endParaRPr/>
          </a:p>
          <a:p>
            <a:pPr indent="0" lvl="0" marL="0" rtl="0" algn="l">
              <a:spcBef>
                <a:spcPts val="0"/>
              </a:spcBef>
              <a:spcAft>
                <a:spcPts val="0"/>
              </a:spcAft>
              <a:buClr>
                <a:schemeClr val="dk1"/>
              </a:buClr>
              <a:buSzPts val="1100"/>
              <a:buFont typeface="Arial"/>
              <a:buNone/>
            </a:pPr>
            <a:r>
              <a:rPr lang="es">
                <a:solidFill>
                  <a:schemeClr val="dk1"/>
                </a:solidFill>
              </a:rPr>
              <a:t>1. accion de buscar con sobregarga baja(0-120) media(0-1000) alta(0-2000)</a:t>
            </a:r>
            <a:br>
              <a:rPr lang="es">
                <a:solidFill>
                  <a:schemeClr val="dk1"/>
                </a:solidFill>
              </a:rPr>
            </a:b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6aa4aa729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6aa4aa72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sacar los pids de la arquitectura creamos un script que hace crictl ps a cada contenedor de cada nodo, dandonos todos los pids que estan ejecutando en cada contenedor, luego ponemos esos pids como entrada para ecofloc y scaphandre y medimos la energia en 3 etapas, la 1ra etapa es el tiempo de descarga de imagenes y schedulling de pods, la 2da etapa es la creacion de db, imagenes y categorias y la 3ra etapa es la ejecucion de los requests.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Para la ejecucion de los requests tenemos 6 configuraciones:</a:t>
            </a:r>
            <a:br>
              <a:rPr lang="es"/>
            </a:br>
            <a:br>
              <a:rPr lang="es"/>
            </a:br>
            <a:r>
              <a:rPr lang="es"/>
              <a:t>1. accion de comprar con sobregarga baja(0-120) media(0-1000) alta(0-2000)</a:t>
            </a:r>
            <a:endParaRPr/>
          </a:p>
          <a:p>
            <a:pPr indent="0" lvl="0" marL="0" rtl="0" algn="l">
              <a:spcBef>
                <a:spcPts val="0"/>
              </a:spcBef>
              <a:spcAft>
                <a:spcPts val="0"/>
              </a:spcAft>
              <a:buClr>
                <a:schemeClr val="dk1"/>
              </a:buClr>
              <a:buSzPts val="1100"/>
              <a:buFont typeface="Arial"/>
              <a:buNone/>
            </a:pPr>
            <a:r>
              <a:rPr lang="es">
                <a:solidFill>
                  <a:schemeClr val="dk1"/>
                </a:solidFill>
              </a:rPr>
              <a:t>1. accion de buscar con sobregarga baja(0-120) media(0-1000) alta(0-2000)</a:t>
            </a:r>
            <a:br>
              <a:rPr lang="es">
                <a:solidFill>
                  <a:schemeClr val="dk1"/>
                </a:solidFill>
              </a:rPr>
            </a:b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69669f4f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69669f4f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6e24827d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6e24827d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2b17501ad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2b17501ad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6aa4aa7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6aa4aa7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Sin embargo en la ejecucion de la accion de buy, donde se usa mas el servicio persistence e images, vemos como los picos son mas concurrentes, lo que indica que el comportamiento del servicio persistence es de manera acumulativa, que gastan energia en sd de diferentes formas respecto a la memoria acumulada, en browse no se guarda mucho en la cache del servicio, solo se busca productos, pero en buy se guarda en el carrito de compras y se va acumulando el uso de memoria.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6aa4aa72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6aa4aa72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Sin embargo en la ejecucion de la accion de buy, donde se usa mas el servicio persistence e images, vemos como los picos son mas concurrentes, lo que indica que el comportamiento del servicio persistence es de manera acumulativa, que gastan energia en sd de diferentes formas respecto a la memoria acumulada, en browse no se guarda mucho en la cache del servicio, solo se busca productos, pero en buy se guarda en el carrito de compras y se va acumulando el uso de memoria.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6aa4aa72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6aa4aa72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Sin embargo en la ejecucion de la accion de buy, donde se usa mas el servicio persistence e images, vemos como los picos son mas concurrentes, lo que indica que el comportamiento del servicio persistence es de manera acumulativa, que gastan energia en sd de diferentes formas respecto a la memoria acumulada, en browse no se guarda mucho en la cache del servicio, solo se busca productos, pero en buy se guarda en el carrito de compras y se va acumulando el uso de memoria.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0daba8f6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b0daba8f6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Estos graficos son los comportamientos de la energia en cada componente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6aa4aa72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6aa4aa72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Sin embargo en la ejecucion de la accion de buy, donde se usa mas el servicio persistence e images, vemos como los picos son mas concurrentes, lo que indica que el comportamiento del servicio persistence es de manera acumulativa, que gastan energia en sd de diferentes formas respecto a la memoria acumulada, en browse no se guarda mucho en la cache del servicio, solo se busca productos, pero en buy se guarda en el carrito de compras y se va acumulando el uso de memoria.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6aa4aa72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6aa4aa72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Sin embargo en la ejecucion de la accion de buy, donde se usa mas el servicio persistence e images, vemos como los picos son mas concurrentes, lo que indica que el comportamiento del servicio persistence es de manera acumulativa, que gastan energia en sd de diferentes formas respecto a la memoria acumulada, en browse no se guarda mucho en la cache del servicio, solo se busca productos, pero en buy se guarda en el carrito de compras y se va acumulando el uso de memoria.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1d2edeb8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1d2edeb8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2b17501a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2b17501a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0daba8f6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0daba8f6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la medicion de energia de la etapa del schedulling inicia cuando hacemos la descarga de imagenes y termina cuando todos los pods estan en la etapa running, normalmente dura entre 20 a 30 segundos. Vemos como el componente que mas gasta es cpu y luego tambien vemos que nic aumenta su consumo debido a que se gastan recursos de la red al momento de descargar imagenes.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6aa4aa729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6aa4aa729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preparacion de microservicios inicia cuando todos los pods estan en estado ready y termina cuando preguntamos al servicio registry de la arquitectura si todos los servicios estan listos para ejecutar, que esten listos indica que la base de datos este populada, las imagenes preparadas y registry tenga todas las conexiones listas y saludables, por eso el consumo de energia en NIC es bajo, porque no descarga mucho ni hay mucha comunicacion entre los pods, solamente hay comunicacion cuando registry pregunta cada 5 segundos si los servicios estan listos, sin embargo en el pod que tiene la db, en el nodo Aspire, consume mucha mas energia por la creacion de la db, ese tambien tiene el servicio de imagenes y tambien consume mas ram gracias a eso. Esta etapa dura de 60 a 120 segundos.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0daba8f6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0daba8f6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preparacion de microservicios inicia cuando todos los pods estan en estado ready y termina cuando preguntamos al servicio registry de la arquitectura si todos los servicios estan listos para ejecutar, que esten listos indica que la base de datos este populada, las imagenes preparadas y registry tenga todas las conexiones listas y saludables, por eso el consumo de energia en NIC es bajo, porque no descarga mucho ni hay mucha comunicacion entre los pods, solamente hay comunicacion cuando registry pregunta cada 5 segundos si los servicios estan listos, sin embargo en el pod que tiene la db, en el nodo Aspire, consume mucha mas energia por la creacion de la db, ese tambien tiene el servicio de imagenes y tambien consume mas ram gracias a eso. Esta etapa dura de 60 a 120 segundos.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0daba8f6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0daba8f6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este grafico es la medicion de energia de una ejecucion, sin embargo el script de acciones es diferente, en este scrip ingresa por webui, hace login y hace acciones de compra, vemos como el cpu incrementa su uso de energia en todos los nodos porque ademas de las acciones de busqueda hace “Devuelve todas las líneas en el flujo de texto devuelto que coinciden con una expresión regular proporcionada” que al iterar varias veces para lograr unc coincidencia hace que se consuma mas cpu y ram. en esta ejecucion el pod de memoria tambien gasta pero cuando se schedullea en el pod de leo o scorpius falla.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2b17501ad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2b17501ad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2b17501a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2b17501a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este grafico es la medicion de energia de una ejecucion, sin embargo el script de acciones es diferente, en este scrip ingresa por webui, hace login y hace acciones de compra, vemos como el cpu incrementa su uso de energia en todos los nodos porque ademas de las acciones de busqueda hace “Devuelve todas las líneas en el flujo de texto devuelto que coinciden con una expresión regular proporcionada” que al iterar varias veces para lograr unc coincidencia hace que se consuma mas cpu y ram. en esta ejecucion el pod de memoria tambien gasta pero cuando se schedullea en el pod de leo o scorpius falla.</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2b17501ad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2b17501a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este grafico es la medicion de energia de una ejecucion, sin embargo el script de acciones es diferente, en este scrip ingresa por webui, hace login y hace acciones de compra, vemos como el cpu incrementa su uso de energia en todos los nodos porque ademas de las acciones de busqueda hace “Devuelve todas las líneas en el flujo de texto devuelto que coinciden con una expresión regular proporcionada” que al iterar varias veces para lograr unc coincidencia hace que se consuma mas cpu y ram. en esta ejecucion el pod de memoria tambien gasta pero cuando se schedullea en el pod de leo o scorpius falla.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000f9ccc8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000f9ccc8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b69669f4f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b69669f4f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b1ffc477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b1ffc477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este grafico es la medicion de energia de una ejecucion, sin embargo el script de acciones es diferente, en este scrip ingresa por webui, hace login y hace acciones de compra, vemos como el cpu incrementa su uso de energia en todos los nodos porque ademas de las acciones de busqueda hace “Devuelve todas las líneas en el flujo de texto devuelto que coinciden con una expresión regular proporcionada” que al iterar varias veces para lograr unc coincidencia hace que se consuma mas cpu y ram. en esta ejecucion el pod de memoria tambien gasta pero cuando se schedullea en el pod de leo o scorpius falla.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6aa4aa729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b6aa4aa729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este grafico es la medicion de energia de una ejecucion, sin embargo el script de acciones es diferente, en este scrip ingresa por webui, hace login y hace acciones de compra, vemos como el cpu incrementa su uso de energia en todos los nodos porque ademas de las acciones de busqueda hace “Devuelve todas las líneas en el flujo de texto devuelto que coinciden con una expresión regular proporcionada” que al iterar varias veces para lograr unc coincidencia hace que se consuma mas cpu y ram. en esta ejecucion el pod de memoria tambien gasta pero cuando se schedullea en el pod de leo o scorpius falla.</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6e24827d5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6e24827d5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89411470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b89411470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89411470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b89411470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69669f4f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b69669f4f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69669f4f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69669f4f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69669f4f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b69669f4f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6e24827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b6e24827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69669f4f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b69669f4f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69669f4f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b69669f4f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69669f4f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b69669f4f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b6e24827d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b6e24827d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1d2edeb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91d2edeb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6e24827d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b6e24827d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ESte grafico es de medicion de los pods en los 4 componentes, vemos que el servicio de webui es el que mas consumio y despues el pod de auth, lo que corresponde a la accion que se hizo en este experimento, la accion es que el usuario ingreso a la plataforma, hizo loguin y empezo a buscar productos, por ello tambien el recommender y servicio de imagenes apracen con consumo, luego en cada servicio es consistente el calico node que es el pod de las comunicaciones.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1d2edeb8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1d2edeb8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1d2edeb8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1d2edeb8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1d2edeb8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1d2edeb8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1d2edeb8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1d2edeb8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91d2edeb8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91d2edeb8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91d2edeb8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91d2edeb8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1d2edeb8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91d2edeb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1d2edeb8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1d2edeb8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91d2edeb8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91d2edeb8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91d2edeb8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91d2edeb8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91d2edeb8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91d2edeb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91d2edeb8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91d2edeb8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1d2edeb8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91d2edeb8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1d2edeb8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91d2edeb8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b5d17cc0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b5d17cc0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69669f4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b69669f4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5d17cc0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b5d17cc0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b5d17cc0e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b5d17cc0e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ae86f4111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ae86f4111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ejecucion(08:40:48)cpuhigh</a:t>
            </a:r>
            <a:br>
              <a:rPr lang="es"/>
            </a:br>
            <a:r>
              <a:rPr lang="es"/>
              <a:t>este grafico muestra la correlacion entre energia gastada y los paquetes entregados y paquetes no entregados. Podemos notar que la energía se dispara en el nodo Leo, después de tener paquetes perdidos. Esto puede significar que se consume más energía al intentar reenviar paquetes que crear nuevos y enviarlos nuevamente</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b000f9ccc8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b000f9ccc8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ejecucion(08:22:35)ramhigh</a:t>
            </a:r>
            <a:br>
              <a:rPr lang="es"/>
            </a:br>
            <a:r>
              <a:rPr lang="es"/>
              <a:t>este grafico muestra la correlacion entre energia gastada y los paquetes entregados y paquetes no entregados. En cuanto al componente de ram, podemos ver picos de energ</a:t>
            </a:r>
            <a:r>
              <a:rPr lang="es"/>
              <a:t>ía cuando se envían nuevos paquetes, los cuales se muestran justo después que los anteriores han sido entregados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4.xml"/><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5.xml"/><Relationship Id="rId4" Type="http://schemas.openxmlformats.org/officeDocument/2006/relationships/image" Target="../media/image11.png"/><Relationship Id="rId5" Type="http://schemas.openxmlformats.org/officeDocument/2006/relationships/image" Target="../media/image15.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6.xml"/><Relationship Id="rId4" Type="http://schemas.openxmlformats.org/officeDocument/2006/relationships/image" Target="../media/image1.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7.xml"/><Relationship Id="rId4" Type="http://schemas.openxmlformats.org/officeDocument/2006/relationships/image" Target="../media/image23.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9.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10.xml"/><Relationship Id="rId4" Type="http://schemas.openxmlformats.org/officeDocument/2006/relationships/image" Target="../media/image22.png"/><Relationship Id="rId5" Type="http://schemas.openxmlformats.org/officeDocument/2006/relationships/image" Target="../media/image33.png"/><Relationship Id="rId6" Type="http://schemas.openxmlformats.org/officeDocument/2006/relationships/image" Target="../media/image47.png"/><Relationship Id="rId7"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omments" Target="../comments/comment1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omments" Target="../comments/commen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13.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comments" Target="../comments/comment14.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1.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comments" Target="../comments/comment15.xml"/><Relationship Id="rId4" Type="http://schemas.openxmlformats.org/officeDocument/2006/relationships/image" Target="../media/image52.png"/><Relationship Id="rId5" Type="http://schemas.openxmlformats.org/officeDocument/2006/relationships/image" Target="../media/image42.png"/><Relationship Id="rId6"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comments" Target="../comments/comment16.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comments" Target="../comments/comment17.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comments" Target="../comments/comment18.xml"/><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0.png"/><Relationship Id="rId4" Type="http://schemas.openxmlformats.org/officeDocument/2006/relationships/image" Target="../media/image37.png"/><Relationship Id="rId5"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9.png"/><Relationship Id="rId4" Type="http://schemas.openxmlformats.org/officeDocument/2006/relationships/image" Target="../media/image54.png"/><Relationship Id="rId5"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6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comments" Target="../comments/comment19.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comments" Target="../comments/comment20.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comments" Target="../comments/comment21.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comments" Target="../comments/comment22.xml"/><Relationship Id="rId4" Type="http://schemas.openxmlformats.org/officeDocument/2006/relationships/image" Target="../media/image61.png"/><Relationship Id="rId5" Type="http://schemas.openxmlformats.org/officeDocument/2006/relationships/image" Target="../media/image7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7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6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comments" Target="../comments/comment23.xml"/><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comments" Target="../comments/commen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6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comments" Target="../comments/comment25.xml"/><Relationship Id="rId4" Type="http://schemas.openxmlformats.org/officeDocument/2006/relationships/image" Target="../media/image6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comments" Target="../comments/commen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comments" Target="../comments/comment27.xml"/><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196000" y="2285400"/>
            <a:ext cx="475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RESULTADOS TEASTORE</a:t>
            </a:r>
            <a:endParaRPr b="1" sz="28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rotWithShape="1">
          <a:blip r:embed="rId4">
            <a:alphaModFix/>
          </a:blip>
          <a:srcRect b="12831" l="0" r="0" t="0"/>
          <a:stretch/>
        </p:blipFill>
        <p:spPr>
          <a:xfrm>
            <a:off x="4509875" y="2423675"/>
            <a:ext cx="4491050" cy="2719825"/>
          </a:xfrm>
          <a:prstGeom prst="rect">
            <a:avLst/>
          </a:prstGeom>
          <a:noFill/>
          <a:ln>
            <a:noFill/>
          </a:ln>
        </p:spPr>
      </p:pic>
      <p:sp>
        <p:nvSpPr>
          <p:cNvPr id="60" name="Google Shape;60;p14"/>
          <p:cNvSpPr txBox="1"/>
          <p:nvPr/>
        </p:nvSpPr>
        <p:spPr>
          <a:xfrm>
            <a:off x="75" y="470475"/>
            <a:ext cx="9144000" cy="297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rgbClr val="1F1F1F"/>
                </a:solidFill>
                <a:highlight>
                  <a:schemeClr val="lt1"/>
                </a:highlight>
                <a:latin typeface="Roboto"/>
                <a:ea typeface="Roboto"/>
                <a:cs typeface="Roboto"/>
                <a:sym typeface="Roboto"/>
              </a:rPr>
              <a:t>- </a:t>
            </a:r>
            <a:r>
              <a:rPr lang="es" sz="1650">
                <a:solidFill>
                  <a:srgbClr val="1F1F1F"/>
                </a:solidFill>
                <a:highlight>
                  <a:schemeClr val="lt1"/>
                </a:highlight>
                <a:latin typeface="Roboto"/>
                <a:ea typeface="Roboto"/>
                <a:cs typeface="Roboto"/>
                <a:sym typeface="Roboto"/>
              </a:rPr>
              <a:t>Los servicios necesarios para generar comportamiento del Benchmark (WebUI, Image-Provider, Auth,  Persistence y Recommender) se comunican entre sí para generar los diferentes flujos de usuarios. Esta es la línea que representa este comportamiento:</a:t>
            </a:r>
            <a:br>
              <a:rPr lang="es" sz="1650">
                <a:solidFill>
                  <a:srgbClr val="1F1F1F"/>
                </a:solidFill>
                <a:highlight>
                  <a:schemeClr val="lt1"/>
                </a:highlight>
                <a:latin typeface="Roboto"/>
                <a:ea typeface="Roboto"/>
                <a:cs typeface="Roboto"/>
                <a:sym typeface="Roboto"/>
              </a:rPr>
            </a:br>
            <a:br>
              <a:rPr lang="es" sz="1650">
                <a:solidFill>
                  <a:srgbClr val="1F1F1F"/>
                </a:solidFill>
                <a:highlight>
                  <a:schemeClr val="lt1"/>
                </a:highlight>
                <a:latin typeface="Roboto"/>
                <a:ea typeface="Roboto"/>
                <a:cs typeface="Roboto"/>
                <a:sym typeface="Roboto"/>
              </a:rPr>
            </a:br>
            <a:r>
              <a:rPr lang="es" sz="1650">
                <a:solidFill>
                  <a:srgbClr val="1F1F1F"/>
                </a:solidFill>
                <a:highlight>
                  <a:schemeClr val="lt1"/>
                </a:highlight>
                <a:latin typeface="Roboto"/>
                <a:ea typeface="Roboto"/>
                <a:cs typeface="Roboto"/>
                <a:sym typeface="Roboto"/>
              </a:rPr>
              <a:t>- Todos los servicios reportan su estado al servicio de Registry. Detalles técnicos de cada pod deployeado están guardados aquí, relación representada por:</a:t>
            </a:r>
            <a:br>
              <a:rPr lang="es" sz="1650">
                <a:solidFill>
                  <a:srgbClr val="1F1F1F"/>
                </a:solidFill>
                <a:highlight>
                  <a:schemeClr val="lt1"/>
                </a:highlight>
                <a:latin typeface="Roboto"/>
                <a:ea typeface="Roboto"/>
                <a:cs typeface="Roboto"/>
                <a:sym typeface="Roboto"/>
              </a:rPr>
            </a:br>
            <a:br>
              <a:rPr lang="es" sz="1650">
                <a:solidFill>
                  <a:srgbClr val="1F1F1F"/>
                </a:solidFill>
                <a:highlight>
                  <a:schemeClr val="lt1"/>
                </a:highlight>
                <a:latin typeface="Roboto"/>
                <a:ea typeface="Roboto"/>
                <a:cs typeface="Roboto"/>
                <a:sym typeface="Roboto"/>
              </a:rPr>
            </a:br>
            <a:r>
              <a:rPr lang="es" sz="1650">
                <a:solidFill>
                  <a:srgbClr val="1F1F1F"/>
                </a:solidFill>
                <a:highlight>
                  <a:schemeClr val="lt1"/>
                </a:highlight>
                <a:latin typeface="Roboto"/>
                <a:ea typeface="Roboto"/>
                <a:cs typeface="Roboto"/>
                <a:sym typeface="Roboto"/>
              </a:rPr>
              <a:t>- Solo por primera vez al cargar los servicios hay una comunicación directa entre los servicios de</a:t>
            </a:r>
            <a:br>
              <a:rPr lang="es" sz="1650">
                <a:solidFill>
                  <a:srgbClr val="1F1F1F"/>
                </a:solidFill>
                <a:highlight>
                  <a:schemeClr val="lt1"/>
                </a:highlight>
                <a:latin typeface="Roboto"/>
                <a:ea typeface="Roboto"/>
                <a:cs typeface="Roboto"/>
                <a:sym typeface="Roboto"/>
              </a:rPr>
            </a:br>
            <a:r>
              <a:rPr lang="es" sz="1650">
                <a:solidFill>
                  <a:srgbClr val="1F1F1F"/>
                </a:solidFill>
                <a:highlight>
                  <a:schemeClr val="lt1"/>
                </a:highlight>
                <a:latin typeface="Roboto"/>
                <a:ea typeface="Roboto"/>
                <a:cs typeface="Roboto"/>
                <a:sym typeface="Roboto"/>
              </a:rPr>
              <a:t>“ImageProvider” -&gt; ”Persistence” y</a:t>
            </a:r>
            <a:br>
              <a:rPr lang="es" sz="1650">
                <a:solidFill>
                  <a:srgbClr val="1F1F1F"/>
                </a:solidFill>
                <a:highlight>
                  <a:schemeClr val="lt1"/>
                </a:highlight>
                <a:latin typeface="Roboto"/>
                <a:ea typeface="Roboto"/>
                <a:cs typeface="Roboto"/>
                <a:sym typeface="Roboto"/>
              </a:rPr>
            </a:br>
            <a:r>
              <a:rPr lang="es" sz="1650">
                <a:solidFill>
                  <a:srgbClr val="1F1F1F"/>
                </a:solidFill>
                <a:highlight>
                  <a:schemeClr val="lt1"/>
                </a:highlight>
                <a:latin typeface="Roboto"/>
                <a:ea typeface="Roboto"/>
                <a:cs typeface="Roboto"/>
                <a:sym typeface="Roboto"/>
              </a:rPr>
              <a:t>“Recommender” -&gt; ”Persistence”</a:t>
            </a:r>
            <a:br>
              <a:rPr lang="es" sz="1650">
                <a:solidFill>
                  <a:srgbClr val="1F1F1F"/>
                </a:solidFill>
                <a:highlight>
                  <a:schemeClr val="lt1"/>
                </a:highlight>
                <a:latin typeface="Roboto"/>
                <a:ea typeface="Roboto"/>
                <a:cs typeface="Roboto"/>
                <a:sym typeface="Roboto"/>
              </a:rPr>
            </a:br>
            <a:r>
              <a:rPr lang="es" sz="1650">
                <a:solidFill>
                  <a:srgbClr val="1F1F1F"/>
                </a:solidFill>
                <a:highlight>
                  <a:schemeClr val="lt1"/>
                </a:highlight>
                <a:latin typeface="Roboto"/>
                <a:ea typeface="Roboto"/>
                <a:cs typeface="Roboto"/>
                <a:sym typeface="Roboto"/>
              </a:rPr>
              <a:t>Relación representada por:</a:t>
            </a:r>
            <a:endParaRPr sz="1650">
              <a:solidFill>
                <a:srgbClr val="1F1F1F"/>
              </a:solidFill>
              <a:highlight>
                <a:schemeClr val="lt1"/>
              </a:highlight>
              <a:latin typeface="Roboto"/>
              <a:ea typeface="Roboto"/>
              <a:cs typeface="Roboto"/>
              <a:sym typeface="Roboto"/>
            </a:endParaRPr>
          </a:p>
        </p:txBody>
      </p:sp>
      <p:sp>
        <p:nvSpPr>
          <p:cNvPr id="61" name="Google Shape;61;p14"/>
          <p:cNvSpPr txBox="1"/>
          <p:nvPr>
            <p:ph type="title"/>
          </p:nvPr>
        </p:nvSpPr>
        <p:spPr>
          <a:xfrm>
            <a:off x="60550" y="59000"/>
            <a:ext cx="7235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t>Arquitectura del Benchmark</a:t>
            </a:r>
            <a:endParaRPr b="1" sz="1800"/>
          </a:p>
        </p:txBody>
      </p:sp>
      <p:cxnSp>
        <p:nvCxnSpPr>
          <p:cNvPr id="62" name="Google Shape;62;p14"/>
          <p:cNvCxnSpPr/>
          <p:nvPr/>
        </p:nvCxnSpPr>
        <p:spPr>
          <a:xfrm>
            <a:off x="6079025" y="1210750"/>
            <a:ext cx="913800" cy="0"/>
          </a:xfrm>
          <a:prstGeom prst="straightConnector1">
            <a:avLst/>
          </a:prstGeom>
          <a:noFill/>
          <a:ln cap="flat" cmpd="sng" w="28575">
            <a:solidFill>
              <a:schemeClr val="dk2"/>
            </a:solidFill>
            <a:prstDash val="solid"/>
            <a:round/>
            <a:headEnd len="med" w="med" type="none"/>
            <a:tailEnd len="med" w="med" type="triangle"/>
          </a:ln>
        </p:spPr>
      </p:cxnSp>
      <p:cxnSp>
        <p:nvCxnSpPr>
          <p:cNvPr id="63" name="Google Shape;63;p14"/>
          <p:cNvCxnSpPr/>
          <p:nvPr/>
        </p:nvCxnSpPr>
        <p:spPr>
          <a:xfrm>
            <a:off x="5923475" y="1993850"/>
            <a:ext cx="1069500" cy="0"/>
          </a:xfrm>
          <a:prstGeom prst="straightConnector1">
            <a:avLst/>
          </a:prstGeom>
          <a:noFill/>
          <a:ln cap="flat" cmpd="sng" w="9525">
            <a:solidFill>
              <a:schemeClr val="dk2"/>
            </a:solidFill>
            <a:prstDash val="solid"/>
            <a:round/>
            <a:headEnd len="med" w="med" type="none"/>
            <a:tailEnd len="med" w="med" type="stealth"/>
          </a:ln>
        </p:spPr>
      </p:cxnSp>
      <p:cxnSp>
        <p:nvCxnSpPr>
          <p:cNvPr id="64" name="Google Shape;64;p14"/>
          <p:cNvCxnSpPr/>
          <p:nvPr/>
        </p:nvCxnSpPr>
        <p:spPr>
          <a:xfrm>
            <a:off x="2755000" y="3227450"/>
            <a:ext cx="1071600" cy="0"/>
          </a:xfrm>
          <a:prstGeom prst="straightConnector1">
            <a:avLst/>
          </a:prstGeom>
          <a:noFill/>
          <a:ln cap="flat" cmpd="sng" w="28575">
            <a:solidFill>
              <a:schemeClr val="dk2"/>
            </a:solidFill>
            <a:prstDash val="dash"/>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p:cNvPicPr preferRelativeResize="0"/>
          <p:nvPr/>
        </p:nvPicPr>
        <p:blipFill rotWithShape="1">
          <a:blip r:embed="rId4">
            <a:alphaModFix/>
          </a:blip>
          <a:srcRect b="12831" l="0" r="0" t="0"/>
          <a:stretch/>
        </p:blipFill>
        <p:spPr>
          <a:xfrm>
            <a:off x="2733600" y="2680900"/>
            <a:ext cx="4066276" cy="2462600"/>
          </a:xfrm>
          <a:prstGeom prst="rect">
            <a:avLst/>
          </a:prstGeom>
          <a:noFill/>
          <a:ln>
            <a:noFill/>
          </a:ln>
        </p:spPr>
      </p:pic>
      <p:sp>
        <p:nvSpPr>
          <p:cNvPr id="70" name="Google Shape;70;p15"/>
          <p:cNvSpPr txBox="1"/>
          <p:nvPr/>
        </p:nvSpPr>
        <p:spPr>
          <a:xfrm>
            <a:off x="75" y="470475"/>
            <a:ext cx="9144000" cy="282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s" sz="1150">
                <a:solidFill>
                  <a:srgbClr val="1F1F1F"/>
                </a:solidFill>
                <a:highlight>
                  <a:schemeClr val="lt1"/>
                </a:highlight>
                <a:latin typeface="Roboto"/>
                <a:ea typeface="Roboto"/>
                <a:cs typeface="Roboto"/>
                <a:sym typeface="Roboto"/>
              </a:rPr>
              <a:t>WEB-UI</a:t>
            </a:r>
            <a:r>
              <a:rPr lang="es" sz="1150">
                <a:solidFill>
                  <a:srgbClr val="1F1F1F"/>
                </a:solidFill>
                <a:highlight>
                  <a:schemeClr val="lt1"/>
                </a:highlight>
                <a:latin typeface="Roboto"/>
                <a:ea typeface="Roboto"/>
                <a:cs typeface="Roboto"/>
                <a:sym typeface="Roboto"/>
              </a:rPr>
              <a:t> -&gt; Inicio de flujo para usuarios, proporciona una interfaz a través de JSP(Java Server Pages)</a:t>
            </a:r>
            <a:br>
              <a:rPr lang="es" sz="1150">
                <a:solidFill>
                  <a:srgbClr val="1F1F1F"/>
                </a:solidFill>
                <a:highlight>
                  <a:schemeClr val="lt1"/>
                </a:highlight>
                <a:latin typeface="Roboto"/>
                <a:ea typeface="Roboto"/>
                <a:cs typeface="Roboto"/>
                <a:sym typeface="Roboto"/>
              </a:rPr>
            </a:br>
            <a:br>
              <a:rPr lang="es" sz="1150">
                <a:solidFill>
                  <a:srgbClr val="1F1F1F"/>
                </a:solidFill>
                <a:highlight>
                  <a:schemeClr val="lt1"/>
                </a:highlight>
                <a:latin typeface="Roboto"/>
                <a:ea typeface="Roboto"/>
                <a:cs typeface="Roboto"/>
                <a:sym typeface="Roboto"/>
              </a:rPr>
            </a:br>
            <a:r>
              <a:rPr b="1" lang="es" sz="1150">
                <a:solidFill>
                  <a:srgbClr val="1F1F1F"/>
                </a:solidFill>
                <a:highlight>
                  <a:schemeClr val="lt1"/>
                </a:highlight>
                <a:latin typeface="Roboto"/>
                <a:ea typeface="Roboto"/>
                <a:cs typeface="Roboto"/>
                <a:sym typeface="Roboto"/>
              </a:rPr>
              <a:t>Registry</a:t>
            </a:r>
            <a:r>
              <a:rPr lang="es" sz="1150">
                <a:solidFill>
                  <a:srgbClr val="1F1F1F"/>
                </a:solidFill>
                <a:highlight>
                  <a:schemeClr val="lt1"/>
                </a:highlight>
                <a:latin typeface="Roboto"/>
                <a:ea typeface="Roboto"/>
                <a:cs typeface="Roboto"/>
                <a:sym typeface="Roboto"/>
              </a:rPr>
              <a:t> -&gt; Mantiene una lista actualizada de todas las instancias activas de los microservicios, registra: IPs, hostnames, puertos, estado de servicios.</a:t>
            </a:r>
            <a:br>
              <a:rPr lang="es" sz="1150">
                <a:solidFill>
                  <a:srgbClr val="1F1F1F"/>
                </a:solidFill>
                <a:highlight>
                  <a:schemeClr val="lt1"/>
                </a:highlight>
                <a:latin typeface="Roboto"/>
                <a:ea typeface="Roboto"/>
                <a:cs typeface="Roboto"/>
                <a:sym typeface="Roboto"/>
              </a:rPr>
            </a:b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1" lang="es" sz="1150">
                <a:solidFill>
                  <a:srgbClr val="1F1F1F"/>
                </a:solidFill>
                <a:highlight>
                  <a:schemeClr val="lt1"/>
                </a:highlight>
                <a:latin typeface="Roboto"/>
                <a:ea typeface="Roboto"/>
                <a:cs typeface="Roboto"/>
                <a:sym typeface="Roboto"/>
              </a:rPr>
              <a:t>Image-provider</a:t>
            </a:r>
            <a:r>
              <a:rPr lang="es" sz="1150">
                <a:solidFill>
                  <a:srgbClr val="1F1F1F"/>
                </a:solidFill>
                <a:highlight>
                  <a:schemeClr val="lt1"/>
                </a:highlight>
                <a:latin typeface="Roboto"/>
                <a:ea typeface="Roboto"/>
                <a:cs typeface="Roboto"/>
                <a:sym typeface="Roboto"/>
              </a:rPr>
              <a:t> -&gt; Proporciona imágenes de diferentes tamaños, usa una caché interna para mejorar el tiempo de respuesta.</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1" lang="es" sz="1150">
                <a:solidFill>
                  <a:srgbClr val="1F1F1F"/>
                </a:solidFill>
                <a:highlight>
                  <a:schemeClr val="lt1"/>
                </a:highlight>
                <a:latin typeface="Roboto"/>
                <a:ea typeface="Roboto"/>
                <a:cs typeface="Roboto"/>
                <a:sym typeface="Roboto"/>
              </a:rPr>
              <a:t>Auth</a:t>
            </a:r>
            <a:r>
              <a:rPr lang="es" sz="1150">
                <a:solidFill>
                  <a:srgbClr val="1F1F1F"/>
                </a:solidFill>
                <a:highlight>
                  <a:schemeClr val="lt1"/>
                </a:highlight>
                <a:latin typeface="Roboto"/>
                <a:ea typeface="Roboto"/>
                <a:cs typeface="Roboto"/>
                <a:sym typeface="Roboto"/>
              </a:rPr>
              <a:t> -&gt; Responsable de seguridad y validación. Usa el algoritmo BCrypt y el hash SHA-512</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1" lang="es" sz="1150">
                <a:solidFill>
                  <a:srgbClr val="1F1F1F"/>
                </a:solidFill>
                <a:highlight>
                  <a:schemeClr val="lt1"/>
                </a:highlight>
                <a:latin typeface="Roboto"/>
                <a:ea typeface="Roboto"/>
                <a:cs typeface="Roboto"/>
                <a:sym typeface="Roboto"/>
              </a:rPr>
              <a:t>Persistence</a:t>
            </a:r>
            <a:r>
              <a:rPr lang="es" sz="1150">
                <a:solidFill>
                  <a:srgbClr val="1F1F1F"/>
                </a:solidFill>
                <a:highlight>
                  <a:schemeClr val="lt1"/>
                </a:highlight>
                <a:latin typeface="Roboto"/>
                <a:ea typeface="Roboto"/>
                <a:cs typeface="Roboto"/>
                <a:sym typeface="Roboto"/>
              </a:rPr>
              <a:t> -&gt; Gestiona el acceso a la base de datos de tipo relacional. principales datos sobre categorías, productos, usuarios e historial de compras. </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1" lang="es" sz="1150">
                <a:solidFill>
                  <a:srgbClr val="1F1F1F"/>
                </a:solidFill>
                <a:highlight>
                  <a:schemeClr val="lt1"/>
                </a:highlight>
                <a:latin typeface="Roboto"/>
                <a:ea typeface="Roboto"/>
                <a:cs typeface="Roboto"/>
                <a:sym typeface="Roboto"/>
              </a:rPr>
              <a:t>Recommender</a:t>
            </a:r>
            <a:r>
              <a:rPr lang="es" sz="1150">
                <a:solidFill>
                  <a:srgbClr val="1F1F1F"/>
                </a:solidFill>
                <a:highlight>
                  <a:schemeClr val="lt1"/>
                </a:highlight>
                <a:latin typeface="Roboto"/>
                <a:ea typeface="Roboto"/>
                <a:cs typeface="Roboto"/>
                <a:sym typeface="Roboto"/>
              </a:rPr>
              <a:t> -&gt; Sugiere productos al usuario de acuerdo a las compras de otros clientes y el contenido actual del carrito de compras. Usa el algoritmo Slop One</a:t>
            </a:r>
            <a:endParaRPr sz="1150">
              <a:solidFill>
                <a:srgbClr val="1F1F1F"/>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050">
              <a:solidFill>
                <a:srgbClr val="1F1F1F"/>
              </a:solidFill>
              <a:highlight>
                <a:schemeClr val="lt1"/>
              </a:highlight>
              <a:latin typeface="Roboto"/>
              <a:ea typeface="Roboto"/>
              <a:cs typeface="Roboto"/>
              <a:sym typeface="Roboto"/>
            </a:endParaRPr>
          </a:p>
        </p:txBody>
      </p:sp>
      <p:sp>
        <p:nvSpPr>
          <p:cNvPr id="71" name="Google Shape;71;p15"/>
          <p:cNvSpPr txBox="1"/>
          <p:nvPr>
            <p:ph type="title"/>
          </p:nvPr>
        </p:nvSpPr>
        <p:spPr>
          <a:xfrm>
            <a:off x="60550" y="59000"/>
            <a:ext cx="7235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t>Funcionalidades de cada servicio de Benchmark</a:t>
            </a:r>
            <a:endParaRPr b="1" sz="1800"/>
          </a:p>
        </p:txBody>
      </p:sp>
      <p:sp>
        <p:nvSpPr>
          <p:cNvPr id="72" name="Google Shape;72;p15"/>
          <p:cNvSpPr txBox="1"/>
          <p:nvPr/>
        </p:nvSpPr>
        <p:spPr>
          <a:xfrm>
            <a:off x="4380025" y="2756175"/>
            <a:ext cx="420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73" name="Google Shape;73;p15"/>
          <p:cNvPicPr preferRelativeResize="0"/>
          <p:nvPr/>
        </p:nvPicPr>
        <p:blipFill>
          <a:blip r:embed="rId5">
            <a:alphaModFix/>
          </a:blip>
          <a:stretch>
            <a:fillRect/>
          </a:stretch>
        </p:blipFill>
        <p:spPr>
          <a:xfrm>
            <a:off x="4109725" y="3217875"/>
            <a:ext cx="628750" cy="377250"/>
          </a:xfrm>
          <a:prstGeom prst="rect">
            <a:avLst/>
          </a:prstGeom>
          <a:noFill/>
          <a:ln>
            <a:noFill/>
          </a:ln>
        </p:spPr>
      </p:pic>
      <p:pic>
        <p:nvPicPr>
          <p:cNvPr id="74" name="Google Shape;74;p15"/>
          <p:cNvPicPr preferRelativeResize="0"/>
          <p:nvPr/>
        </p:nvPicPr>
        <p:blipFill>
          <a:blip r:embed="rId6">
            <a:alphaModFix/>
          </a:blip>
          <a:stretch>
            <a:fillRect/>
          </a:stretch>
        </p:blipFill>
        <p:spPr>
          <a:xfrm>
            <a:off x="4348788" y="4570800"/>
            <a:ext cx="446437" cy="572700"/>
          </a:xfrm>
          <a:prstGeom prst="rect">
            <a:avLst/>
          </a:prstGeom>
          <a:noFill/>
          <a:ln>
            <a:noFill/>
          </a:ln>
        </p:spPr>
      </p:pic>
      <p:sp>
        <p:nvSpPr>
          <p:cNvPr id="75" name="Google Shape;75;p15"/>
          <p:cNvSpPr txBox="1"/>
          <p:nvPr/>
        </p:nvSpPr>
        <p:spPr>
          <a:xfrm>
            <a:off x="6356050" y="4635175"/>
            <a:ext cx="726900" cy="3231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chemeClr val="dk2"/>
                </a:solidFill>
              </a:rPr>
              <a:t>Slope One</a:t>
            </a:r>
            <a:endParaRPr sz="900">
              <a:solidFill>
                <a:schemeClr val="dk2"/>
              </a:solidFill>
            </a:endParaRPr>
          </a:p>
        </p:txBody>
      </p:sp>
      <p:pic>
        <p:nvPicPr>
          <p:cNvPr id="76" name="Google Shape;76;p15"/>
          <p:cNvPicPr preferRelativeResize="0"/>
          <p:nvPr/>
        </p:nvPicPr>
        <p:blipFill>
          <a:blip r:embed="rId7">
            <a:alphaModFix/>
          </a:blip>
          <a:stretch>
            <a:fillRect/>
          </a:stretch>
        </p:blipFill>
        <p:spPr>
          <a:xfrm>
            <a:off x="5366650" y="4052950"/>
            <a:ext cx="323100" cy="323100"/>
          </a:xfrm>
          <a:prstGeom prst="rect">
            <a:avLst/>
          </a:prstGeom>
          <a:noFill/>
          <a:ln>
            <a:noFill/>
          </a:ln>
        </p:spPr>
      </p:pic>
      <p:sp>
        <p:nvSpPr>
          <p:cNvPr id="77" name="Google Shape;77;p15"/>
          <p:cNvSpPr txBox="1"/>
          <p:nvPr/>
        </p:nvSpPr>
        <p:spPr>
          <a:xfrm>
            <a:off x="2875185" y="4635175"/>
            <a:ext cx="782100" cy="3231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chemeClr val="dk2"/>
                </a:solidFill>
              </a:rPr>
              <a:t>Cache LFU</a:t>
            </a:r>
            <a:endParaRPr sz="900">
              <a:solidFill>
                <a:schemeClr val="dk2"/>
              </a:solidFill>
            </a:endParaRPr>
          </a:p>
        </p:txBody>
      </p:sp>
      <p:pic>
        <p:nvPicPr>
          <p:cNvPr id="78" name="Google Shape;78;p15"/>
          <p:cNvPicPr preferRelativeResize="0"/>
          <p:nvPr/>
        </p:nvPicPr>
        <p:blipFill>
          <a:blip r:embed="rId8">
            <a:alphaModFix/>
          </a:blip>
          <a:stretch>
            <a:fillRect/>
          </a:stretch>
        </p:blipFill>
        <p:spPr>
          <a:xfrm>
            <a:off x="6012850" y="2879125"/>
            <a:ext cx="323100" cy="591702"/>
          </a:xfrm>
          <a:prstGeom prst="rect">
            <a:avLst/>
          </a:prstGeom>
          <a:noFill/>
          <a:ln>
            <a:noFill/>
          </a:ln>
        </p:spPr>
      </p:pic>
      <p:pic>
        <p:nvPicPr>
          <p:cNvPr id="79" name="Google Shape;79;p15"/>
          <p:cNvPicPr preferRelativeResize="0"/>
          <p:nvPr/>
        </p:nvPicPr>
        <p:blipFill>
          <a:blip r:embed="rId9">
            <a:alphaModFix/>
          </a:blip>
          <a:stretch>
            <a:fillRect/>
          </a:stretch>
        </p:blipFill>
        <p:spPr>
          <a:xfrm>
            <a:off x="6443749" y="3009600"/>
            <a:ext cx="446425" cy="3307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128700" y="-54550"/>
            <a:ext cx="7235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t>I/O de Teastore</a:t>
            </a:r>
            <a:endParaRPr b="1" sz="1800"/>
          </a:p>
        </p:txBody>
      </p:sp>
      <p:pic>
        <p:nvPicPr>
          <p:cNvPr id="85" name="Google Shape;85;p16" title="ecosystem_diagram.png"/>
          <p:cNvPicPr preferRelativeResize="0"/>
          <p:nvPr/>
        </p:nvPicPr>
        <p:blipFill>
          <a:blip r:embed="rId4">
            <a:alphaModFix/>
          </a:blip>
          <a:stretch>
            <a:fillRect/>
          </a:stretch>
        </p:blipFill>
        <p:spPr>
          <a:xfrm>
            <a:off x="164900" y="518150"/>
            <a:ext cx="7198897" cy="4320550"/>
          </a:xfrm>
          <a:prstGeom prst="rect">
            <a:avLst/>
          </a:prstGeom>
          <a:noFill/>
          <a:ln>
            <a:noFill/>
          </a:ln>
        </p:spPr>
      </p:pic>
      <p:sp>
        <p:nvSpPr>
          <p:cNvPr id="86" name="Google Shape;86;p16"/>
          <p:cNvSpPr txBox="1"/>
          <p:nvPr/>
        </p:nvSpPr>
        <p:spPr>
          <a:xfrm>
            <a:off x="7298200" y="1720850"/>
            <a:ext cx="1857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Este gráfico muestra los parámetros de entrada como de salida del benchmark</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128700" y="-54550"/>
            <a:ext cx="7235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t>Flujo de un caso de uso del Benchmark</a:t>
            </a:r>
            <a:endParaRPr b="1" sz="1800"/>
          </a:p>
        </p:txBody>
      </p:sp>
      <p:pic>
        <p:nvPicPr>
          <p:cNvPr id="92" name="Google Shape;92;p17"/>
          <p:cNvPicPr preferRelativeResize="0"/>
          <p:nvPr/>
        </p:nvPicPr>
        <p:blipFill>
          <a:blip r:embed="rId4">
            <a:alphaModFix/>
          </a:blip>
          <a:stretch>
            <a:fillRect/>
          </a:stretch>
        </p:blipFill>
        <p:spPr>
          <a:xfrm>
            <a:off x="152400" y="670550"/>
            <a:ext cx="1962676" cy="4320551"/>
          </a:xfrm>
          <a:prstGeom prst="rect">
            <a:avLst/>
          </a:prstGeom>
          <a:noFill/>
          <a:ln>
            <a:noFill/>
          </a:ln>
        </p:spPr>
      </p:pic>
      <p:pic>
        <p:nvPicPr>
          <p:cNvPr id="93" name="Google Shape;93;p17"/>
          <p:cNvPicPr preferRelativeResize="0"/>
          <p:nvPr/>
        </p:nvPicPr>
        <p:blipFill>
          <a:blip r:embed="rId5">
            <a:alphaModFix/>
          </a:blip>
          <a:stretch>
            <a:fillRect/>
          </a:stretch>
        </p:blipFill>
        <p:spPr>
          <a:xfrm>
            <a:off x="2536474" y="670550"/>
            <a:ext cx="3413098" cy="4320549"/>
          </a:xfrm>
          <a:prstGeom prst="rect">
            <a:avLst/>
          </a:prstGeom>
          <a:noFill/>
          <a:ln>
            <a:noFill/>
          </a:ln>
        </p:spPr>
      </p:pic>
      <p:pic>
        <p:nvPicPr>
          <p:cNvPr id="94" name="Google Shape;94;p17"/>
          <p:cNvPicPr preferRelativeResize="0"/>
          <p:nvPr/>
        </p:nvPicPr>
        <p:blipFill>
          <a:blip r:embed="rId6">
            <a:alphaModFix/>
          </a:blip>
          <a:stretch>
            <a:fillRect/>
          </a:stretch>
        </p:blipFill>
        <p:spPr>
          <a:xfrm>
            <a:off x="6370975" y="202370"/>
            <a:ext cx="2963525" cy="4941130"/>
          </a:xfrm>
          <a:prstGeom prst="rect">
            <a:avLst/>
          </a:prstGeom>
          <a:noFill/>
          <a:ln>
            <a:noFill/>
          </a:ln>
        </p:spPr>
      </p:pic>
      <p:pic>
        <p:nvPicPr>
          <p:cNvPr id="95" name="Google Shape;95;p17"/>
          <p:cNvPicPr preferRelativeResize="0"/>
          <p:nvPr/>
        </p:nvPicPr>
        <p:blipFill>
          <a:blip r:embed="rId7">
            <a:alphaModFix/>
          </a:blip>
          <a:stretch>
            <a:fillRect/>
          </a:stretch>
        </p:blipFill>
        <p:spPr>
          <a:xfrm>
            <a:off x="6171159" y="202375"/>
            <a:ext cx="3082540" cy="4941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128700" y="-54550"/>
            <a:ext cx="7235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t>Flujo de un caso de uso del Benchmark</a:t>
            </a:r>
            <a:endParaRPr b="1" sz="1800"/>
          </a:p>
        </p:txBody>
      </p:sp>
      <p:pic>
        <p:nvPicPr>
          <p:cNvPr id="101" name="Google Shape;101;p18"/>
          <p:cNvPicPr preferRelativeResize="0"/>
          <p:nvPr/>
        </p:nvPicPr>
        <p:blipFill>
          <a:blip r:embed="rId4">
            <a:alphaModFix/>
          </a:blip>
          <a:stretch>
            <a:fillRect/>
          </a:stretch>
        </p:blipFill>
        <p:spPr>
          <a:xfrm>
            <a:off x="405024" y="539300"/>
            <a:ext cx="2402969" cy="4320551"/>
          </a:xfrm>
          <a:prstGeom prst="rect">
            <a:avLst/>
          </a:prstGeom>
          <a:noFill/>
          <a:ln>
            <a:noFill/>
          </a:ln>
        </p:spPr>
      </p:pic>
      <p:pic>
        <p:nvPicPr>
          <p:cNvPr id="102" name="Google Shape;102;p18"/>
          <p:cNvPicPr preferRelativeResize="0"/>
          <p:nvPr/>
        </p:nvPicPr>
        <p:blipFill>
          <a:blip r:embed="rId5">
            <a:alphaModFix/>
          </a:blip>
          <a:stretch>
            <a:fillRect/>
          </a:stretch>
        </p:blipFill>
        <p:spPr>
          <a:xfrm>
            <a:off x="3423613" y="466700"/>
            <a:ext cx="2199350" cy="4465750"/>
          </a:xfrm>
          <a:prstGeom prst="rect">
            <a:avLst/>
          </a:prstGeom>
          <a:noFill/>
          <a:ln>
            <a:noFill/>
          </a:ln>
        </p:spPr>
      </p:pic>
      <p:pic>
        <p:nvPicPr>
          <p:cNvPr id="103" name="Google Shape;103;p18"/>
          <p:cNvPicPr preferRelativeResize="0"/>
          <p:nvPr/>
        </p:nvPicPr>
        <p:blipFill>
          <a:blip r:embed="rId6">
            <a:alphaModFix/>
          </a:blip>
          <a:stretch>
            <a:fillRect/>
          </a:stretch>
        </p:blipFill>
        <p:spPr>
          <a:xfrm>
            <a:off x="6238565" y="127825"/>
            <a:ext cx="2676719"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1517525" y="1445800"/>
            <a:ext cx="694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Explicacion del proceso de realizacion de experimentos con codigo</a:t>
            </a:r>
            <a:endParaRPr b="1" sz="282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253675" y="750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solidFill>
                  <a:srgbClr val="222222"/>
                </a:solidFill>
                <a:highlight>
                  <a:srgbClr val="FFFFFF"/>
                </a:highlight>
              </a:rPr>
              <a:t>Metodología de experimentos</a:t>
            </a:r>
            <a:endParaRPr b="1" sz="1800"/>
          </a:p>
        </p:txBody>
      </p:sp>
      <p:sp>
        <p:nvSpPr>
          <p:cNvPr id="114" name="Google Shape;114;p20"/>
          <p:cNvSpPr txBox="1"/>
          <p:nvPr/>
        </p:nvSpPr>
        <p:spPr>
          <a:xfrm>
            <a:off x="208375" y="420800"/>
            <a:ext cx="8193900" cy="3570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s" sz="1100">
                <a:solidFill>
                  <a:schemeClr val="dk1"/>
                </a:solidFill>
              </a:rPr>
              <a:t>Para sacar los pids de la arquitectura creamos un script que hace crictl ps a cada contenedor de cada nodo, este saca todos los pids que ejecutan dentro de cada pod.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exportamos los pids a los archivos txt que consume ECOFLOC.</a:t>
            </a:r>
            <a:r>
              <a:rPr lang="es" sz="1100">
                <a:solidFill>
                  <a:schemeClr val="dk1"/>
                </a:solidFill>
              </a:rPr>
              <a:t> La entrada de Ecofloc es una lista de pids relacionado al cluster, estan en un txt y ecofloc lee estos para medir esos resultados.</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En la imagen hay </a:t>
            </a:r>
            <a:r>
              <a:rPr lang="es" sz="1100">
                <a:solidFill>
                  <a:schemeClr val="dk1"/>
                </a:solidFill>
              </a:rPr>
              <a:t>pids.txt y nic_pids.txt </a:t>
            </a:r>
            <a:r>
              <a:rPr lang="es" sz="1100">
                <a:solidFill>
                  <a:schemeClr val="dk1"/>
                </a:solidFill>
              </a:rPr>
              <a:t>que es un filtrado de pids.txt relacionado solo a procesos que consumen la red, con identificadores como calico, calico-node, entre otros.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s"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9144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115" name="Google Shape;115;p20"/>
          <p:cNvPicPr preferRelativeResize="0"/>
          <p:nvPr/>
        </p:nvPicPr>
        <p:blipFill>
          <a:blip r:embed="rId4">
            <a:alphaModFix/>
          </a:blip>
          <a:stretch>
            <a:fillRect/>
          </a:stretch>
        </p:blipFill>
        <p:spPr>
          <a:xfrm>
            <a:off x="1142975" y="1558900"/>
            <a:ext cx="6414900" cy="454600"/>
          </a:xfrm>
          <a:prstGeom prst="rect">
            <a:avLst/>
          </a:prstGeom>
          <a:noFill/>
          <a:ln>
            <a:noFill/>
          </a:ln>
        </p:spPr>
      </p:pic>
      <p:pic>
        <p:nvPicPr>
          <p:cNvPr id="116" name="Google Shape;116;p20"/>
          <p:cNvPicPr preferRelativeResize="0"/>
          <p:nvPr/>
        </p:nvPicPr>
        <p:blipFill>
          <a:blip r:embed="rId5">
            <a:alphaModFix/>
          </a:blip>
          <a:stretch>
            <a:fillRect/>
          </a:stretch>
        </p:blipFill>
        <p:spPr>
          <a:xfrm>
            <a:off x="5843675" y="2603350"/>
            <a:ext cx="3127275" cy="2203750"/>
          </a:xfrm>
          <a:prstGeom prst="rect">
            <a:avLst/>
          </a:prstGeom>
          <a:noFill/>
          <a:ln>
            <a:noFill/>
          </a:ln>
        </p:spPr>
      </p:pic>
      <p:sp>
        <p:nvSpPr>
          <p:cNvPr id="117" name="Google Shape;117;p20"/>
          <p:cNvSpPr txBox="1"/>
          <p:nvPr/>
        </p:nvSpPr>
        <p:spPr>
          <a:xfrm>
            <a:off x="253675" y="2127050"/>
            <a:ext cx="5548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3.</a:t>
            </a:r>
            <a:r>
              <a:rPr lang="es" sz="1100">
                <a:solidFill>
                  <a:schemeClr val="dk1"/>
                </a:solidFill>
              </a:rPr>
              <a:t>Lanzamos el script de la sobrecarga de requests y al mismo tiempo se mide la energia, puede medir 1 solo componente o los 4 a la vez.</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El script tiene 3 iteraciones, que son el nivel de sobrecarga definido por la documentacion, baja, media, alta.</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La medicion de energia se da al inicio de la etapa del lanzamiento de carga y la medicion finaliza </a:t>
            </a:r>
            <a:r>
              <a:rPr lang="es" sz="1100">
                <a:solidFill>
                  <a:schemeClr val="dk1"/>
                </a:solidFill>
              </a:rPr>
              <a:t>cuando la el servicio de sobrecarga para/deja de mandar requests.</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Segun el codigo del loop principal de medicion de energia, hay un bucle en cada nodo donde se define cada componente, luego se manda los codigos de run ecofloc y run scaph que miden durante la duracion del bloque, normalmente el bloque de experimento dura 140 segundos </a:t>
            </a:r>
            <a:r>
              <a:rPr lang="es" sz="1100">
                <a:solidFill>
                  <a:schemeClr val="dk1"/>
                </a:solidFill>
              </a:rPr>
              <a:t>entonces las funciones duran eso</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Para la cada medicion tenemos 6 configuraciones de intensidad de carga:</a:t>
            </a:r>
            <a:br>
              <a:rPr lang="es" sz="1100">
                <a:solidFill>
                  <a:schemeClr val="dk1"/>
                </a:solidFill>
              </a:rPr>
            </a:br>
            <a:r>
              <a:rPr lang="es" sz="1100">
                <a:solidFill>
                  <a:schemeClr val="dk1"/>
                </a:solidFill>
              </a:rPr>
              <a:t>1. accion de comprar con sobregarga baja(0-120) media(0-1000) alta(0-2000)</a:t>
            </a:r>
            <a:endParaRPr sz="1100">
              <a:solidFill>
                <a:schemeClr val="dk1"/>
              </a:solidFill>
            </a:endParaRPr>
          </a:p>
          <a:p>
            <a:pPr indent="0" lvl="0" marL="914400" rtl="0" algn="l">
              <a:spcBef>
                <a:spcPts val="0"/>
              </a:spcBef>
              <a:spcAft>
                <a:spcPts val="0"/>
              </a:spcAft>
              <a:buNone/>
            </a:pPr>
            <a:r>
              <a:rPr lang="es" sz="1100">
                <a:solidFill>
                  <a:schemeClr val="dk1"/>
                </a:solidFill>
              </a:rPr>
              <a:t>1. accion de buscar con sobregarga baja(0-120) media(0-1000) alta(0-2000)</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253675" y="750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00">
                <a:solidFill>
                  <a:srgbClr val="222222"/>
                </a:solidFill>
                <a:highlight>
                  <a:srgbClr val="FFFFFF"/>
                </a:highlight>
              </a:rPr>
              <a:t>Metodología de experimentos</a:t>
            </a:r>
            <a:endParaRPr b="1" sz="1800"/>
          </a:p>
        </p:txBody>
      </p:sp>
      <p:sp>
        <p:nvSpPr>
          <p:cNvPr id="123" name="Google Shape;123;p21"/>
          <p:cNvSpPr txBox="1"/>
          <p:nvPr/>
        </p:nvSpPr>
        <p:spPr>
          <a:xfrm>
            <a:off x="208375" y="420800"/>
            <a:ext cx="8193900" cy="17085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s" sz="1100">
                <a:solidFill>
                  <a:schemeClr val="dk1"/>
                </a:solidFill>
              </a:rPr>
              <a:t>otra medicion de energia es cuando se descargan las imagenes y se schedullean en los pods</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se inicia la medicion de energia cuando se hace kubectl apply teastore images, eso descarga todos los recursos </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se para la medicion de energia cuando todos los pods estan en estado running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La ultima medicion es la etapa donde los servicios llenan la base de datos y los servicios de persistencia e imag</a:t>
            </a:r>
            <a:r>
              <a:rPr lang="es" sz="1100">
                <a:solidFill>
                  <a:schemeClr val="dk1"/>
                </a:solidFill>
              </a:rPr>
              <a:t>enes</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inica cuando los pods recien pasan a estado running</a:t>
            </a:r>
            <a:endParaRPr sz="1100">
              <a:solidFill>
                <a:schemeClr val="dk1"/>
              </a:solidFill>
            </a:endParaRPr>
          </a:p>
          <a:p>
            <a:pPr indent="-298450" lvl="1" marL="914400" rtl="0" algn="l">
              <a:spcBef>
                <a:spcPts val="0"/>
              </a:spcBef>
              <a:spcAft>
                <a:spcPts val="0"/>
              </a:spcAft>
              <a:buClr>
                <a:schemeClr val="dk1"/>
              </a:buClr>
              <a:buSzPts val="1100"/>
              <a:buAutoNum type="alphaLcPeriod"/>
            </a:pPr>
            <a:r>
              <a:rPr lang="es" sz="1100">
                <a:solidFill>
                  <a:schemeClr val="dk1"/>
                </a:solidFill>
              </a:rPr>
              <a:t>termina cuando el servicio de registry indica que cada servicio esta disponible para funcionar</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Para ello al lanzar el experimento se ponen unos stops y tiempos para definir el tipo de experimento que se medira</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124" name="Google Shape;124;p21"/>
          <p:cNvPicPr preferRelativeResize="0"/>
          <p:nvPr/>
        </p:nvPicPr>
        <p:blipFill>
          <a:blip r:embed="rId4">
            <a:alphaModFix/>
          </a:blip>
          <a:stretch>
            <a:fillRect/>
          </a:stretch>
        </p:blipFill>
        <p:spPr>
          <a:xfrm>
            <a:off x="2785600" y="1782100"/>
            <a:ext cx="5185124" cy="1359250"/>
          </a:xfrm>
          <a:prstGeom prst="rect">
            <a:avLst/>
          </a:prstGeom>
          <a:noFill/>
          <a:ln>
            <a:noFill/>
          </a:ln>
        </p:spPr>
      </p:pic>
      <p:pic>
        <p:nvPicPr>
          <p:cNvPr id="125" name="Google Shape;125;p21"/>
          <p:cNvPicPr preferRelativeResize="0"/>
          <p:nvPr/>
        </p:nvPicPr>
        <p:blipFill>
          <a:blip r:embed="rId5">
            <a:alphaModFix/>
          </a:blip>
          <a:stretch>
            <a:fillRect/>
          </a:stretch>
        </p:blipFill>
        <p:spPr>
          <a:xfrm>
            <a:off x="2988375" y="3262450"/>
            <a:ext cx="4982356" cy="1697349"/>
          </a:xfrm>
          <a:prstGeom prst="rect">
            <a:avLst/>
          </a:prstGeom>
          <a:noFill/>
          <a:ln>
            <a:noFill/>
          </a:ln>
        </p:spPr>
      </p:pic>
      <p:sp>
        <p:nvSpPr>
          <p:cNvPr id="126" name="Google Shape;126;p21"/>
          <p:cNvSpPr txBox="1"/>
          <p:nvPr/>
        </p:nvSpPr>
        <p:spPr>
          <a:xfrm>
            <a:off x="208375" y="2211300"/>
            <a:ext cx="2403000" cy="5232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s" sz="1100">
                <a:solidFill>
                  <a:schemeClr val="dk1"/>
                </a:solidFill>
              </a:rPr>
              <a:t>Medicion de descarga de imagenes</a:t>
            </a:r>
            <a:endParaRPr/>
          </a:p>
        </p:txBody>
      </p:sp>
      <p:sp>
        <p:nvSpPr>
          <p:cNvPr id="127" name="Google Shape;127;p21"/>
          <p:cNvSpPr txBox="1"/>
          <p:nvPr/>
        </p:nvSpPr>
        <p:spPr>
          <a:xfrm>
            <a:off x="156400" y="3748925"/>
            <a:ext cx="3000000" cy="5232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s" sz="1100">
                <a:solidFill>
                  <a:schemeClr val="dk1"/>
                </a:solidFill>
              </a:rPr>
              <a:t>Medicion de llenado de base de datos, persistencia e imagenes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Condiciones</a:t>
            </a:r>
            <a:endParaRPr/>
          </a:p>
        </p:txBody>
      </p:sp>
      <p:sp>
        <p:nvSpPr>
          <p:cNvPr id="133" name="Google Shape;133;p22"/>
          <p:cNvSpPr txBox="1"/>
          <p:nvPr>
            <p:ph idx="1" type="body"/>
          </p:nvPr>
        </p:nvSpPr>
        <p:spPr>
          <a:xfrm>
            <a:off x="311700" y="1141900"/>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s"/>
              <a:t>4 nodos (nombres clave):</a:t>
            </a:r>
            <a:endParaRPr/>
          </a:p>
          <a:p>
            <a:pPr indent="-308610" lvl="0" marL="457200" rtl="0" algn="l">
              <a:spcBef>
                <a:spcPts val="1200"/>
              </a:spcBef>
              <a:spcAft>
                <a:spcPts val="0"/>
              </a:spcAft>
              <a:buSzPct val="100000"/>
              <a:buChar char="-"/>
            </a:pPr>
            <a:r>
              <a:rPr lang="es"/>
              <a:t>Leo</a:t>
            </a:r>
            <a:endParaRPr/>
          </a:p>
          <a:p>
            <a:pPr indent="-308610" lvl="0" marL="457200" rtl="0" algn="l">
              <a:spcBef>
                <a:spcPts val="0"/>
              </a:spcBef>
              <a:spcAft>
                <a:spcPts val="0"/>
              </a:spcAft>
              <a:buSzPct val="100000"/>
              <a:buChar char="-"/>
            </a:pPr>
            <a:r>
              <a:rPr lang="es"/>
              <a:t>Aspire</a:t>
            </a:r>
            <a:endParaRPr/>
          </a:p>
          <a:p>
            <a:pPr indent="-308610" lvl="0" marL="457200" rtl="0" algn="l">
              <a:spcBef>
                <a:spcPts val="0"/>
              </a:spcBef>
              <a:spcAft>
                <a:spcPts val="0"/>
              </a:spcAft>
              <a:buSzPct val="100000"/>
              <a:buChar char="-"/>
            </a:pPr>
            <a:r>
              <a:rPr lang="es"/>
              <a:t>Nitro</a:t>
            </a:r>
            <a:endParaRPr/>
          </a:p>
          <a:p>
            <a:pPr indent="-308610" lvl="0" marL="457200" rtl="0" algn="l">
              <a:spcBef>
                <a:spcPts val="0"/>
              </a:spcBef>
              <a:spcAft>
                <a:spcPts val="0"/>
              </a:spcAft>
              <a:buSzPct val="100000"/>
              <a:buChar char="-"/>
            </a:pPr>
            <a:r>
              <a:rPr lang="es"/>
              <a:t>Scorpius</a:t>
            </a:r>
            <a:endParaRPr/>
          </a:p>
          <a:p>
            <a:pPr indent="0" lvl="0" marL="0" rtl="0" algn="l">
              <a:spcBef>
                <a:spcPts val="1200"/>
              </a:spcBef>
              <a:spcAft>
                <a:spcPts val="0"/>
              </a:spcAft>
              <a:buNone/>
            </a:pPr>
            <a:r>
              <a:rPr lang="es"/>
              <a:t>7 servicios deployeados</a:t>
            </a:r>
            <a:endParaRPr/>
          </a:p>
          <a:p>
            <a:pPr indent="-308610" lvl="0" marL="457200" rtl="0" algn="l">
              <a:spcBef>
                <a:spcPts val="1200"/>
              </a:spcBef>
              <a:spcAft>
                <a:spcPts val="0"/>
              </a:spcAft>
              <a:buSzPct val="100000"/>
              <a:buChar char="-"/>
            </a:pPr>
            <a:r>
              <a:rPr lang="es"/>
              <a:t>teastore-persistence</a:t>
            </a:r>
            <a:endParaRPr/>
          </a:p>
          <a:p>
            <a:pPr indent="-308610" lvl="0" marL="457200" rtl="0" algn="l">
              <a:spcBef>
                <a:spcPts val="0"/>
              </a:spcBef>
              <a:spcAft>
                <a:spcPts val="0"/>
              </a:spcAft>
              <a:buSzPct val="100000"/>
              <a:buChar char="-"/>
            </a:pPr>
            <a:r>
              <a:rPr lang="es"/>
              <a:t>teastore-recommender</a:t>
            </a:r>
            <a:endParaRPr/>
          </a:p>
          <a:p>
            <a:pPr indent="-308610" lvl="0" marL="457200" rtl="0" algn="l">
              <a:spcBef>
                <a:spcPts val="0"/>
              </a:spcBef>
              <a:spcAft>
                <a:spcPts val="0"/>
              </a:spcAft>
              <a:buSzPct val="100000"/>
              <a:buChar char="-"/>
            </a:pPr>
            <a:r>
              <a:rPr lang="es"/>
              <a:t>teastore-auth</a:t>
            </a:r>
            <a:endParaRPr/>
          </a:p>
          <a:p>
            <a:pPr indent="-308610" lvl="0" marL="457200" rtl="0" algn="l">
              <a:spcBef>
                <a:spcPts val="0"/>
              </a:spcBef>
              <a:spcAft>
                <a:spcPts val="0"/>
              </a:spcAft>
              <a:buSzPct val="100000"/>
              <a:buChar char="-"/>
            </a:pPr>
            <a:r>
              <a:rPr lang="es"/>
              <a:t>teastore-webui</a:t>
            </a:r>
            <a:endParaRPr/>
          </a:p>
          <a:p>
            <a:pPr indent="-308610" lvl="0" marL="457200" rtl="0" algn="l">
              <a:spcBef>
                <a:spcPts val="0"/>
              </a:spcBef>
              <a:spcAft>
                <a:spcPts val="0"/>
              </a:spcAft>
              <a:buSzPct val="100000"/>
              <a:buChar char="-"/>
            </a:pPr>
            <a:r>
              <a:rPr lang="es"/>
              <a:t>teastore-registry</a:t>
            </a:r>
            <a:endParaRPr/>
          </a:p>
          <a:p>
            <a:pPr indent="-308610" lvl="0" marL="457200" rtl="0" algn="l">
              <a:spcBef>
                <a:spcPts val="0"/>
              </a:spcBef>
              <a:spcAft>
                <a:spcPts val="0"/>
              </a:spcAft>
              <a:buSzPct val="100000"/>
              <a:buChar char="-"/>
            </a:pPr>
            <a:r>
              <a:rPr lang="es"/>
              <a:t>teastore-db</a:t>
            </a:r>
            <a:endParaRPr/>
          </a:p>
          <a:p>
            <a:pPr indent="-308610" lvl="0" marL="457200" rtl="0" algn="l">
              <a:spcBef>
                <a:spcPts val="0"/>
              </a:spcBef>
              <a:spcAft>
                <a:spcPts val="0"/>
              </a:spcAft>
              <a:buSzPct val="100000"/>
              <a:buChar char="-"/>
            </a:pPr>
            <a:r>
              <a:rPr lang="es"/>
              <a:t>teastore-image</a:t>
            </a:r>
            <a:endParaRPr/>
          </a:p>
          <a:p>
            <a:pPr indent="0" lvl="0" marL="0" rtl="0" algn="l">
              <a:spcBef>
                <a:spcPts val="1200"/>
              </a:spcBef>
              <a:spcAft>
                <a:spcPts val="1200"/>
              </a:spcAft>
              <a:buNone/>
            </a:pPr>
            <a:r>
              <a:rPr lang="es"/>
              <a:t>7 experimentos analizados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9" name="Google Shape;13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M1 M2 M3 M4</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-&gt; M1 -&gt; N1, M2 -&gt; N2, M3-&gt;N3, M4-&gt; N1    -&gt; 50</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-&gt; M1 -&gt; N1, M2 -&gt; N4, M3-&gt;N3, M4-&gt; N3 -&gt; 25</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-&gt; M2 -&gt; N1, M2 -&gt; N4, M4-&gt;N3, M4-&gt; N3 -&gt; 25</a:t>
            </a:r>
            <a:endParaRPr/>
          </a:p>
          <a:p>
            <a:pPr indent="0" lvl="0" marL="0" rtl="0" algn="l">
              <a:spcBef>
                <a:spcPts val="1200"/>
              </a:spcBef>
              <a:spcAft>
                <a:spcPts val="1200"/>
              </a:spcAft>
              <a:buClr>
                <a:schemeClr val="dk1"/>
              </a:buClr>
              <a:buSzPts val="1100"/>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1517525" y="1445800"/>
            <a:ext cx="694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Análisis de comportamiento de la energia x componente respecto al tiempo, promedio por intensidad de carga</a:t>
            </a:r>
            <a:endParaRPr b="1" sz="282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519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sz="1888"/>
              <a:t>Comportamiento componentes de intervalos de tiempo normalizado</a:t>
            </a:r>
            <a:endParaRPr b="1" sz="1888"/>
          </a:p>
          <a:p>
            <a:pPr indent="0" lvl="0" marL="0" rtl="0" algn="l">
              <a:spcBef>
                <a:spcPts val="0"/>
              </a:spcBef>
              <a:spcAft>
                <a:spcPts val="0"/>
              </a:spcAft>
              <a:buNone/>
            </a:pPr>
            <a:r>
              <a:t/>
            </a:r>
            <a:endParaRPr b="1" sz="1888"/>
          </a:p>
        </p:txBody>
      </p:sp>
      <p:pic>
        <p:nvPicPr>
          <p:cNvPr id="150" name="Google Shape;150;p25"/>
          <p:cNvPicPr preferRelativeResize="0"/>
          <p:nvPr/>
        </p:nvPicPr>
        <p:blipFill>
          <a:blip r:embed="rId4">
            <a:alphaModFix/>
          </a:blip>
          <a:stretch>
            <a:fillRect/>
          </a:stretch>
        </p:blipFill>
        <p:spPr>
          <a:xfrm>
            <a:off x="152400" y="725100"/>
            <a:ext cx="8839200" cy="309100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Comportamiento componentes</a:t>
            </a:r>
            <a:endParaRPr b="1" sz="1800">
              <a:solidFill>
                <a:srgbClr val="222222"/>
              </a:solidFill>
              <a:highlight>
                <a:srgbClr val="FFFFFF"/>
              </a:highlight>
            </a:endParaRPr>
          </a:p>
        </p:txBody>
      </p:sp>
      <p:pic>
        <p:nvPicPr>
          <p:cNvPr id="156" name="Google Shape;156;p26"/>
          <p:cNvPicPr preferRelativeResize="0"/>
          <p:nvPr/>
        </p:nvPicPr>
        <p:blipFill>
          <a:blip r:embed="rId3">
            <a:alphaModFix/>
          </a:blip>
          <a:stretch>
            <a:fillRect/>
          </a:stretch>
        </p:blipFill>
        <p:spPr>
          <a:xfrm>
            <a:off x="152400" y="1769750"/>
            <a:ext cx="8839200" cy="3091009"/>
          </a:xfrm>
          <a:prstGeom prst="rect">
            <a:avLst/>
          </a:prstGeom>
          <a:noFill/>
          <a:ln>
            <a:noFill/>
          </a:ln>
        </p:spPr>
      </p:pic>
      <p:sp>
        <p:nvSpPr>
          <p:cNvPr id="157" name="Google Shape;157;p26"/>
          <p:cNvSpPr txBox="1"/>
          <p:nvPr/>
        </p:nvSpPr>
        <p:spPr>
          <a:xfrm>
            <a:off x="-36250" y="689175"/>
            <a:ext cx="88392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s" sz="1100">
                <a:solidFill>
                  <a:schemeClr val="dk1"/>
                </a:solidFill>
              </a:rPr>
              <a:t>Igual que SD, NIC tambien tiene registros de energia mas elevados que lo normal en algunos intervalos de tiempo, esto indica que en esos periodos hubo alto registro o uso de NIC, que lo normal, eso se debe a como nos ha ido funcionando registry, que para cierto tiempo y despues esta disponible al 100% hasta sobrecargar su pod y volver a parar o dar capacidad baja.</a:t>
            </a: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Comportamiento componentes</a:t>
            </a:r>
            <a:endParaRPr b="1" sz="1800">
              <a:solidFill>
                <a:srgbClr val="222222"/>
              </a:solidFill>
              <a:highlight>
                <a:srgbClr val="FFFFFF"/>
              </a:highlight>
            </a:endParaRPr>
          </a:p>
        </p:txBody>
      </p:sp>
      <p:pic>
        <p:nvPicPr>
          <p:cNvPr id="163" name="Google Shape;163;p27"/>
          <p:cNvPicPr preferRelativeResize="0"/>
          <p:nvPr/>
        </p:nvPicPr>
        <p:blipFill>
          <a:blip r:embed="rId3">
            <a:alphaModFix/>
          </a:blip>
          <a:stretch>
            <a:fillRect/>
          </a:stretch>
        </p:blipFill>
        <p:spPr>
          <a:xfrm>
            <a:off x="152400" y="725100"/>
            <a:ext cx="8839200" cy="30910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Comportamiento de energia</a:t>
            </a:r>
            <a:endParaRPr b="1" sz="1800">
              <a:solidFill>
                <a:srgbClr val="222222"/>
              </a:solidFill>
              <a:highlight>
                <a:srgbClr val="FFFFFF"/>
              </a:highlight>
            </a:endParaRPr>
          </a:p>
        </p:txBody>
      </p:sp>
      <p:sp>
        <p:nvSpPr>
          <p:cNvPr id="169" name="Google Shape;169;p28"/>
          <p:cNvSpPr txBox="1"/>
          <p:nvPr/>
        </p:nvSpPr>
        <p:spPr>
          <a:xfrm>
            <a:off x="99250" y="750375"/>
            <a:ext cx="3000000" cy="407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Estos graficos son los comportamientos de la energia en cada componente</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En cpu el consumo esta presente durante toda la medicion, tiene picos en las partes donde los requests tienen mas procesos en failed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En RAM pasa</a:t>
            </a:r>
            <a:r>
              <a:rPr lang="es" sz="1100">
                <a:solidFill>
                  <a:schemeClr val="dk1"/>
                </a:solidFill>
              </a:rPr>
              <a:t> lo mismo, respeta mas precisamente los picos de cada request, y los picos altos cuando hay mas requests en estado failed.</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En SD es interesante como hay picos en un tiempo especifico, generalmente al inicio, mitad o final, en este grafico de SD es al inicio y final, que es cuando mas requests proceso el servicio de db</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s" sz="1100">
                <a:solidFill>
                  <a:schemeClr val="dk1"/>
                </a:solidFill>
              </a:rPr>
              <a:t>En NIC podemos ver como fluctua el consumo de energia durante el experimento, vemos el comportamiento de los picos, pero tambien vemos  que el consumo es menor, porque no logramos capturar el pid de la red que mas datos muev</a:t>
            </a:r>
            <a:r>
              <a:rPr lang="es" sz="1100">
                <a:solidFill>
                  <a:schemeClr val="dk1"/>
                </a:solidFill>
              </a:rPr>
              <a:t>e</a:t>
            </a:r>
            <a:endParaRPr sz="1100">
              <a:solidFill>
                <a:schemeClr val="dk1"/>
              </a:solidFill>
            </a:endParaRPr>
          </a:p>
        </p:txBody>
      </p:sp>
      <p:pic>
        <p:nvPicPr>
          <p:cNvPr id="170" name="Google Shape;170;p28"/>
          <p:cNvPicPr preferRelativeResize="0"/>
          <p:nvPr/>
        </p:nvPicPr>
        <p:blipFill>
          <a:blip r:embed="rId4">
            <a:alphaModFix/>
          </a:blip>
          <a:stretch>
            <a:fillRect/>
          </a:stretch>
        </p:blipFill>
        <p:spPr>
          <a:xfrm>
            <a:off x="3673200" y="330325"/>
            <a:ext cx="4617424" cy="1305101"/>
          </a:xfrm>
          <a:prstGeom prst="rect">
            <a:avLst/>
          </a:prstGeom>
          <a:noFill/>
          <a:ln>
            <a:noFill/>
          </a:ln>
        </p:spPr>
      </p:pic>
      <p:pic>
        <p:nvPicPr>
          <p:cNvPr id="171" name="Google Shape;171;p28"/>
          <p:cNvPicPr preferRelativeResize="0"/>
          <p:nvPr/>
        </p:nvPicPr>
        <p:blipFill>
          <a:blip r:embed="rId5">
            <a:alphaModFix/>
          </a:blip>
          <a:stretch>
            <a:fillRect/>
          </a:stretch>
        </p:blipFill>
        <p:spPr>
          <a:xfrm>
            <a:off x="3712375" y="1635425"/>
            <a:ext cx="4760474" cy="1142600"/>
          </a:xfrm>
          <a:prstGeom prst="rect">
            <a:avLst/>
          </a:prstGeom>
          <a:noFill/>
          <a:ln>
            <a:noFill/>
          </a:ln>
        </p:spPr>
      </p:pic>
      <p:pic>
        <p:nvPicPr>
          <p:cNvPr id="172" name="Google Shape;172;p28"/>
          <p:cNvPicPr preferRelativeResize="0"/>
          <p:nvPr/>
        </p:nvPicPr>
        <p:blipFill>
          <a:blip r:embed="rId6">
            <a:alphaModFix/>
          </a:blip>
          <a:stretch>
            <a:fillRect/>
          </a:stretch>
        </p:blipFill>
        <p:spPr>
          <a:xfrm>
            <a:off x="3812050" y="2694425"/>
            <a:ext cx="4760475" cy="1214425"/>
          </a:xfrm>
          <a:prstGeom prst="rect">
            <a:avLst/>
          </a:prstGeom>
          <a:noFill/>
          <a:ln>
            <a:noFill/>
          </a:ln>
        </p:spPr>
      </p:pic>
      <p:pic>
        <p:nvPicPr>
          <p:cNvPr id="173" name="Google Shape;173;p28"/>
          <p:cNvPicPr preferRelativeResize="0"/>
          <p:nvPr/>
        </p:nvPicPr>
        <p:blipFill>
          <a:blip r:embed="rId7">
            <a:alphaModFix/>
          </a:blip>
          <a:stretch>
            <a:fillRect/>
          </a:stretch>
        </p:blipFill>
        <p:spPr>
          <a:xfrm>
            <a:off x="3928575" y="3958875"/>
            <a:ext cx="4723401" cy="931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Comportamiento componentes</a:t>
            </a:r>
            <a:endParaRPr b="1" sz="1800">
              <a:solidFill>
                <a:srgbClr val="222222"/>
              </a:solidFill>
              <a:highlight>
                <a:srgbClr val="FFFFFF"/>
              </a:highlight>
            </a:endParaRPr>
          </a:p>
        </p:txBody>
      </p:sp>
      <p:pic>
        <p:nvPicPr>
          <p:cNvPr id="179" name="Google Shape;179;p29"/>
          <p:cNvPicPr preferRelativeResize="0"/>
          <p:nvPr/>
        </p:nvPicPr>
        <p:blipFill>
          <a:blip r:embed="rId3">
            <a:alphaModFix/>
          </a:blip>
          <a:stretch>
            <a:fillRect/>
          </a:stretch>
        </p:blipFill>
        <p:spPr>
          <a:xfrm>
            <a:off x="116125" y="1798775"/>
            <a:ext cx="8839200" cy="3091009"/>
          </a:xfrm>
          <a:prstGeom prst="rect">
            <a:avLst/>
          </a:prstGeom>
          <a:noFill/>
          <a:ln>
            <a:noFill/>
          </a:ln>
        </p:spPr>
      </p:pic>
      <p:sp>
        <p:nvSpPr>
          <p:cNvPr id="180" name="Google Shape;180;p29"/>
          <p:cNvSpPr txBox="1"/>
          <p:nvPr/>
        </p:nvSpPr>
        <p:spPr>
          <a:xfrm>
            <a:off x="99250" y="750375"/>
            <a:ext cx="85206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s" sz="1100">
                <a:solidFill>
                  <a:schemeClr val="dk1"/>
                </a:solidFill>
              </a:rPr>
              <a:t>A diferencia con las otras cajas, en el caso de SD hay periodos de tiempo donde los consumos de energia se levantan mucho mas que lo normal, esos picos pueden explicar el momento exacto de registros intensivos en SD, esto depende de que experimento se ejecute.</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Comportamiento componentes</a:t>
            </a:r>
            <a:endParaRPr b="1" sz="1800">
              <a:solidFill>
                <a:srgbClr val="222222"/>
              </a:solidFill>
              <a:highlight>
                <a:srgbClr val="FFFFFF"/>
              </a:highlight>
            </a:endParaRPr>
          </a:p>
        </p:txBody>
      </p:sp>
      <p:pic>
        <p:nvPicPr>
          <p:cNvPr id="186" name="Google Shape;186;p30"/>
          <p:cNvPicPr preferRelativeResize="0"/>
          <p:nvPr/>
        </p:nvPicPr>
        <p:blipFill>
          <a:blip r:embed="rId4">
            <a:alphaModFix/>
          </a:blip>
          <a:stretch>
            <a:fillRect/>
          </a:stretch>
        </p:blipFill>
        <p:spPr>
          <a:xfrm>
            <a:off x="152400" y="725100"/>
            <a:ext cx="8839200" cy="309100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1454025" y="2285400"/>
            <a:ext cx="694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C</a:t>
            </a:r>
            <a:r>
              <a:rPr b="1" lang="es" sz="2820"/>
              <a:t>osto energético funcional (grupos de contenedores que hacen una misma cosa) por </a:t>
            </a:r>
            <a:r>
              <a:rPr b="1" lang="es" sz="2820"/>
              <a:t>componente</a:t>
            </a:r>
            <a:r>
              <a:rPr b="1" lang="es" sz="2820"/>
              <a:t>(s). </a:t>
            </a:r>
            <a:endParaRPr b="1" sz="282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1454025" y="2285400"/>
            <a:ext cx="694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Análisis de energia en los 4 componentes x nodo en 1 ejecucion</a:t>
            </a:r>
            <a:endParaRPr b="1" sz="282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519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sz="1888"/>
              <a:t>Tiempo de descarga de imagenes y scheduling de pods</a:t>
            </a:r>
            <a:endParaRPr b="1" sz="1888"/>
          </a:p>
          <a:p>
            <a:pPr indent="0" lvl="0" marL="0" rtl="0" algn="l">
              <a:spcBef>
                <a:spcPts val="0"/>
              </a:spcBef>
              <a:spcAft>
                <a:spcPts val="0"/>
              </a:spcAft>
              <a:buNone/>
            </a:pPr>
            <a:r>
              <a:t/>
            </a:r>
            <a:endParaRPr b="1" sz="1800">
              <a:solidFill>
                <a:srgbClr val="222222"/>
              </a:solidFill>
              <a:highlight>
                <a:srgbClr val="FFFFFF"/>
              </a:highlight>
            </a:endParaRPr>
          </a:p>
        </p:txBody>
      </p:sp>
      <p:pic>
        <p:nvPicPr>
          <p:cNvPr id="202" name="Google Shape;202;p33"/>
          <p:cNvPicPr preferRelativeResize="0"/>
          <p:nvPr/>
        </p:nvPicPr>
        <p:blipFill>
          <a:blip r:embed="rId4">
            <a:alphaModFix/>
          </a:blip>
          <a:stretch>
            <a:fillRect/>
          </a:stretch>
        </p:blipFill>
        <p:spPr>
          <a:xfrm>
            <a:off x="4080875" y="572700"/>
            <a:ext cx="2856626" cy="4439974"/>
          </a:xfrm>
          <a:prstGeom prst="rect">
            <a:avLst/>
          </a:prstGeom>
          <a:noFill/>
          <a:ln>
            <a:noFill/>
          </a:ln>
        </p:spPr>
      </p:pic>
      <p:sp>
        <p:nvSpPr>
          <p:cNvPr id="203" name="Google Shape;203;p33"/>
          <p:cNvSpPr txBox="1"/>
          <p:nvPr/>
        </p:nvSpPr>
        <p:spPr>
          <a:xfrm>
            <a:off x="627350" y="1632900"/>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En la medicion de energia de la etapa del schedulling inicia cuando hacemos la descarga de imagenes y termina cuando todos los pods estan en la etapa running, normalmente dura entre 20 a 30 segundos. Vemos como el componente que mas gasta es cpu y luego tambien vemos que nic aumenta su consumo debido a que se gastan recursos de la red al momento de descargar imagenes.</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Tiempo de preparación de microservicios</a:t>
            </a:r>
            <a:endParaRPr b="1" sz="1800">
              <a:solidFill>
                <a:srgbClr val="222222"/>
              </a:solidFill>
              <a:highlight>
                <a:srgbClr val="FFFFFF"/>
              </a:highlight>
            </a:endParaRPr>
          </a:p>
        </p:txBody>
      </p:sp>
      <p:sp>
        <p:nvSpPr>
          <p:cNvPr id="209" name="Google Shape;209;p34"/>
          <p:cNvSpPr txBox="1"/>
          <p:nvPr/>
        </p:nvSpPr>
        <p:spPr>
          <a:xfrm>
            <a:off x="587825" y="690300"/>
            <a:ext cx="4802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El contenedor de Registry esta siempre preguntando si los servicios estan activos, por eso cuando lo estan envia un log de registered tool webui, asi con los demas servicios.</a:t>
            </a:r>
            <a:endParaRPr sz="1100">
              <a:solidFill>
                <a:schemeClr val="dk1"/>
              </a:solidFill>
            </a:endParaRPr>
          </a:p>
        </p:txBody>
      </p:sp>
      <p:pic>
        <p:nvPicPr>
          <p:cNvPr id="210" name="Google Shape;210;p34"/>
          <p:cNvPicPr preferRelativeResize="0"/>
          <p:nvPr/>
        </p:nvPicPr>
        <p:blipFill>
          <a:blip r:embed="rId3">
            <a:alphaModFix/>
          </a:blip>
          <a:stretch>
            <a:fillRect/>
          </a:stretch>
        </p:blipFill>
        <p:spPr>
          <a:xfrm>
            <a:off x="51925" y="1878650"/>
            <a:ext cx="9044700" cy="13743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Tiempo de </a:t>
            </a:r>
            <a:r>
              <a:rPr b="1" lang="es" sz="1888"/>
              <a:t>preparación</a:t>
            </a:r>
            <a:r>
              <a:rPr b="1" lang="es" sz="1888"/>
              <a:t> de microservicios</a:t>
            </a:r>
            <a:endParaRPr b="1" sz="1800">
              <a:solidFill>
                <a:srgbClr val="222222"/>
              </a:solidFill>
              <a:highlight>
                <a:srgbClr val="FFFFFF"/>
              </a:highlight>
            </a:endParaRPr>
          </a:p>
        </p:txBody>
      </p:sp>
      <p:pic>
        <p:nvPicPr>
          <p:cNvPr id="216" name="Google Shape;216;p35"/>
          <p:cNvPicPr preferRelativeResize="0"/>
          <p:nvPr/>
        </p:nvPicPr>
        <p:blipFill>
          <a:blip r:embed="rId4">
            <a:alphaModFix/>
          </a:blip>
          <a:stretch>
            <a:fillRect/>
          </a:stretch>
        </p:blipFill>
        <p:spPr>
          <a:xfrm>
            <a:off x="5606475" y="572700"/>
            <a:ext cx="2966050" cy="4579500"/>
          </a:xfrm>
          <a:prstGeom prst="rect">
            <a:avLst/>
          </a:prstGeom>
          <a:noFill/>
          <a:ln>
            <a:noFill/>
          </a:ln>
        </p:spPr>
      </p:pic>
      <p:sp>
        <p:nvSpPr>
          <p:cNvPr id="217" name="Google Shape;217;p35"/>
          <p:cNvSpPr txBox="1"/>
          <p:nvPr/>
        </p:nvSpPr>
        <p:spPr>
          <a:xfrm>
            <a:off x="587825" y="690300"/>
            <a:ext cx="37494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La preparacion de microservicios inicia cuando todos los pods estan en estado ready y termina cuando preguntamos al servicio registry de la arquitectura si todos los servicios estan listos para ejecutar, q</a:t>
            </a:r>
            <a:r>
              <a:rPr lang="es" sz="1100">
                <a:solidFill>
                  <a:schemeClr val="dk1"/>
                </a:solidFill>
              </a:rPr>
              <a:t>ue esten listos indica que la base de datos este populada,</a:t>
            </a:r>
            <a:r>
              <a:rPr lang="es" sz="1100">
                <a:solidFill>
                  <a:schemeClr val="dk1"/>
                </a:solidFill>
              </a:rPr>
              <a:t> las imagenes preparadas y registry tenga todas las conexiones listas y saludables, por eso el consumo de energia en NIC es bajo, porque no descarga mucho ni hay mucha comunicacion entre los pods, solamente hay comunicacion cuando registry pregunta cada 5 segundos si los servicios estan listos, sin embargo en el pod que tiene la db, en el nodo Aspire, consume mucha mas energia por la creacion de la db, ese tambien tiene el servicio de imagenes y tambien consume mas ram gracias a eso. </a:t>
            </a:r>
            <a:r>
              <a:rPr lang="es" sz="1100">
                <a:solidFill>
                  <a:schemeClr val="dk1"/>
                </a:solidFill>
              </a:rPr>
              <a:t>Esta etapa dura de 60 a 120 segundos</a:t>
            </a:r>
            <a:r>
              <a:rPr lang="es" sz="1100">
                <a:solidFill>
                  <a:schemeClr val="dk1"/>
                </a:solidFill>
              </a:rPr>
              <a:t>.</a:t>
            </a:r>
            <a:endParaRPr sz="1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Tiempo de </a:t>
            </a:r>
            <a:r>
              <a:rPr b="1" lang="es" sz="1888"/>
              <a:t>Ejecución</a:t>
            </a:r>
            <a:endParaRPr b="1" sz="1800">
              <a:solidFill>
                <a:srgbClr val="222222"/>
              </a:solidFill>
              <a:highlight>
                <a:srgbClr val="FFFFFF"/>
              </a:highlight>
            </a:endParaRPr>
          </a:p>
        </p:txBody>
      </p:sp>
      <p:pic>
        <p:nvPicPr>
          <p:cNvPr id="223" name="Google Shape;223;p36"/>
          <p:cNvPicPr preferRelativeResize="0"/>
          <p:nvPr/>
        </p:nvPicPr>
        <p:blipFill>
          <a:blip r:embed="rId3">
            <a:alphaModFix/>
          </a:blip>
          <a:stretch>
            <a:fillRect/>
          </a:stretch>
        </p:blipFill>
        <p:spPr>
          <a:xfrm>
            <a:off x="4945900" y="247600"/>
            <a:ext cx="3159025" cy="4845125"/>
          </a:xfrm>
          <a:prstGeom prst="rect">
            <a:avLst/>
          </a:prstGeom>
          <a:noFill/>
          <a:ln>
            <a:noFill/>
          </a:ln>
        </p:spPr>
      </p:pic>
      <p:sp>
        <p:nvSpPr>
          <p:cNvPr id="224" name="Google Shape;224;p36"/>
          <p:cNvSpPr txBox="1"/>
          <p:nvPr/>
        </p:nvSpPr>
        <p:spPr>
          <a:xfrm>
            <a:off x="626250" y="1087275"/>
            <a:ext cx="30000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En este grafico es la medicion de energia de una ejecucion, sin embargo el script de acciones es diferente, en este scrip ingresa por webui, hace login y hace acciones de compra, vemos como el cpu incrementa su uso de energia en todos los nodos porque ademas de las acciones de busqueda hace “Devuelve todas las líneas en el flujo de texto devuelto que coinciden con una expresión regular proporcionada” que al iterar varias veces para lograr unc coincidencia hace que se consuma mas cpu y ram. en esta ejecucion el pod de memoria tambien gasta pero cuando se schedullea en el pod de leo o scorpius falla.</a:t>
            </a:r>
            <a:endParaRPr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1454025" y="2285400"/>
            <a:ext cx="694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Análisis de promedio de energia promedio por nodo y  por componente</a:t>
            </a:r>
            <a:endParaRPr b="1" sz="282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519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sz="1800">
                <a:solidFill>
                  <a:srgbClr val="222222"/>
                </a:solidFill>
                <a:highlight>
                  <a:srgbClr val="FFFFFF"/>
                </a:highlight>
              </a:rPr>
              <a:t>Promedio x  nodo x componente en todas las 3 sobrecargas CPU.</a:t>
            </a:r>
            <a:br>
              <a:rPr b="1" lang="es" sz="1800">
                <a:solidFill>
                  <a:srgbClr val="222222"/>
                </a:solidFill>
                <a:highlight>
                  <a:srgbClr val="FFFFFF"/>
                </a:highlight>
              </a:rPr>
            </a:br>
            <a:r>
              <a:rPr b="1" lang="es" sz="1800">
                <a:solidFill>
                  <a:srgbClr val="222222"/>
                </a:solidFill>
                <a:highlight>
                  <a:srgbClr val="FFFFFF"/>
                </a:highlight>
              </a:rPr>
              <a:t>- Azul ecofloc, naranja scaphandre</a:t>
            </a:r>
            <a:endParaRPr b="1" sz="1800">
              <a:solidFill>
                <a:srgbClr val="222222"/>
              </a:solidFill>
              <a:highlight>
                <a:srgbClr val="FFFFFF"/>
              </a:highlight>
            </a:endParaRPr>
          </a:p>
        </p:txBody>
      </p:sp>
      <p:pic>
        <p:nvPicPr>
          <p:cNvPr id="235" name="Google Shape;235;p38"/>
          <p:cNvPicPr preferRelativeResize="0"/>
          <p:nvPr/>
        </p:nvPicPr>
        <p:blipFill>
          <a:blip r:embed="rId3">
            <a:alphaModFix/>
          </a:blip>
          <a:stretch>
            <a:fillRect/>
          </a:stretch>
        </p:blipFill>
        <p:spPr>
          <a:xfrm>
            <a:off x="152400" y="750725"/>
            <a:ext cx="8839200" cy="2067713"/>
          </a:xfrm>
          <a:prstGeom prst="rect">
            <a:avLst/>
          </a:prstGeom>
          <a:noFill/>
          <a:ln>
            <a:noFill/>
          </a:ln>
        </p:spPr>
      </p:pic>
      <p:pic>
        <p:nvPicPr>
          <p:cNvPr id="236" name="Google Shape;236;p38"/>
          <p:cNvPicPr preferRelativeResize="0"/>
          <p:nvPr/>
        </p:nvPicPr>
        <p:blipFill>
          <a:blip r:embed="rId4">
            <a:alphaModFix/>
          </a:blip>
          <a:stretch>
            <a:fillRect/>
          </a:stretch>
        </p:blipFill>
        <p:spPr>
          <a:xfrm>
            <a:off x="152400" y="2970838"/>
            <a:ext cx="8636357" cy="202026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type="title"/>
          </p:nvPr>
        </p:nvSpPr>
        <p:spPr>
          <a:xfrm>
            <a:off x="519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sz="1800">
                <a:solidFill>
                  <a:srgbClr val="222222"/>
                </a:solidFill>
                <a:highlight>
                  <a:srgbClr val="FFFFFF"/>
                </a:highlight>
              </a:rPr>
              <a:t>todas las 3 sobrecargas CPU.</a:t>
            </a:r>
            <a:br>
              <a:rPr b="1" lang="es" sz="1800">
                <a:solidFill>
                  <a:srgbClr val="222222"/>
                </a:solidFill>
                <a:highlight>
                  <a:srgbClr val="FFFFFF"/>
                </a:highlight>
              </a:rPr>
            </a:br>
            <a:r>
              <a:rPr b="1" lang="es" sz="1800">
                <a:solidFill>
                  <a:srgbClr val="222222"/>
                </a:solidFill>
                <a:highlight>
                  <a:srgbClr val="FFFFFF"/>
                </a:highlight>
              </a:rPr>
              <a:t>- resultados del benchmark</a:t>
            </a:r>
            <a:endParaRPr b="1" sz="1800">
              <a:solidFill>
                <a:srgbClr val="222222"/>
              </a:solidFill>
              <a:highlight>
                <a:srgbClr val="FFFFFF"/>
              </a:highlight>
            </a:endParaRPr>
          </a:p>
        </p:txBody>
      </p:sp>
      <p:pic>
        <p:nvPicPr>
          <p:cNvPr id="242" name="Google Shape;242;p39"/>
          <p:cNvPicPr preferRelativeResize="0"/>
          <p:nvPr/>
        </p:nvPicPr>
        <p:blipFill>
          <a:blip r:embed="rId3">
            <a:alphaModFix/>
          </a:blip>
          <a:stretch>
            <a:fillRect/>
          </a:stretch>
        </p:blipFill>
        <p:spPr>
          <a:xfrm>
            <a:off x="152400" y="725100"/>
            <a:ext cx="8839197" cy="416566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1454025" y="2285400"/>
            <a:ext cx="694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820"/>
              <a:t>Análisis de probabilidad de distrución de contenedores</a:t>
            </a:r>
            <a:endParaRPr b="1" sz="282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 de an</a:t>
            </a:r>
            <a:r>
              <a:rPr lang="es"/>
              <a:t>álisis - Top3 base de datos resultados</a:t>
            </a:r>
            <a:endParaRPr/>
          </a:p>
        </p:txBody>
      </p:sp>
      <p:sp>
        <p:nvSpPr>
          <p:cNvPr id="253" name="Google Shape;25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4" name="Google Shape;254;p41"/>
          <p:cNvPicPr preferRelativeResize="0"/>
          <p:nvPr/>
        </p:nvPicPr>
        <p:blipFill>
          <a:blip r:embed="rId4">
            <a:alphaModFix/>
          </a:blip>
          <a:stretch>
            <a:fillRect/>
          </a:stretch>
        </p:blipFill>
        <p:spPr>
          <a:xfrm>
            <a:off x="516475" y="1247725"/>
            <a:ext cx="2437575" cy="2997550"/>
          </a:xfrm>
          <a:prstGeom prst="rect">
            <a:avLst/>
          </a:prstGeom>
          <a:noFill/>
          <a:ln>
            <a:noFill/>
          </a:ln>
        </p:spPr>
      </p:pic>
      <p:pic>
        <p:nvPicPr>
          <p:cNvPr id="255" name="Google Shape;255;p41"/>
          <p:cNvPicPr preferRelativeResize="0"/>
          <p:nvPr/>
        </p:nvPicPr>
        <p:blipFill>
          <a:blip r:embed="rId5">
            <a:alphaModFix/>
          </a:blip>
          <a:stretch>
            <a:fillRect/>
          </a:stretch>
        </p:blipFill>
        <p:spPr>
          <a:xfrm>
            <a:off x="3155950" y="1247725"/>
            <a:ext cx="2437575" cy="2997555"/>
          </a:xfrm>
          <a:prstGeom prst="rect">
            <a:avLst/>
          </a:prstGeom>
          <a:noFill/>
          <a:ln>
            <a:noFill/>
          </a:ln>
        </p:spPr>
      </p:pic>
      <p:pic>
        <p:nvPicPr>
          <p:cNvPr id="256" name="Google Shape;256;p41"/>
          <p:cNvPicPr preferRelativeResize="0"/>
          <p:nvPr/>
        </p:nvPicPr>
        <p:blipFill>
          <a:blip r:embed="rId6">
            <a:alphaModFix/>
          </a:blip>
          <a:stretch>
            <a:fillRect/>
          </a:stretch>
        </p:blipFill>
        <p:spPr>
          <a:xfrm>
            <a:off x="5795425" y="1247725"/>
            <a:ext cx="2437575" cy="2997558"/>
          </a:xfrm>
          <a:prstGeom prst="rect">
            <a:avLst/>
          </a:prstGeom>
          <a:noFill/>
          <a:ln>
            <a:noFill/>
          </a:ln>
        </p:spPr>
      </p:pic>
      <p:sp>
        <p:nvSpPr>
          <p:cNvPr id="257" name="Google Shape;257;p41"/>
          <p:cNvSpPr/>
          <p:nvPr/>
        </p:nvSpPr>
        <p:spPr>
          <a:xfrm>
            <a:off x="557025" y="4482750"/>
            <a:ext cx="2275500" cy="5187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Distribuci</a:t>
            </a:r>
            <a:r>
              <a:rPr lang="es"/>
              <a:t>ón A</a:t>
            </a:r>
            <a:endParaRPr/>
          </a:p>
        </p:txBody>
      </p:sp>
      <p:sp>
        <p:nvSpPr>
          <p:cNvPr id="258" name="Google Shape;258;p41"/>
          <p:cNvSpPr/>
          <p:nvPr/>
        </p:nvSpPr>
        <p:spPr>
          <a:xfrm>
            <a:off x="3236988" y="4482750"/>
            <a:ext cx="2275500" cy="5187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Distribución B</a:t>
            </a:r>
            <a:endParaRPr/>
          </a:p>
        </p:txBody>
      </p:sp>
      <p:sp>
        <p:nvSpPr>
          <p:cNvPr id="259" name="Google Shape;259;p41"/>
          <p:cNvSpPr/>
          <p:nvPr/>
        </p:nvSpPr>
        <p:spPr>
          <a:xfrm>
            <a:off x="5876463" y="4475275"/>
            <a:ext cx="2275500" cy="518700"/>
          </a:xfrm>
          <a:prstGeom prst="roundRect">
            <a:avLst>
              <a:gd fmla="val 16667" name="adj"/>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Distribución C</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aphicFrame>
        <p:nvGraphicFramePr>
          <p:cNvPr id="264" name="Google Shape;264;p42"/>
          <p:cNvGraphicFramePr/>
          <p:nvPr/>
        </p:nvGraphicFramePr>
        <p:xfrm>
          <a:off x="152400" y="152400"/>
          <a:ext cx="3000000" cy="3000000"/>
        </p:xfrm>
        <a:graphic>
          <a:graphicData uri="http://schemas.openxmlformats.org/drawingml/2006/table">
            <a:tbl>
              <a:tblPr>
                <a:noFill/>
                <a:tableStyleId>{426814E3-50DF-4641-A842-31702C7681FB}</a:tableStyleId>
              </a:tblPr>
              <a:tblGrid>
                <a:gridCol w="1666875"/>
                <a:gridCol w="1200150"/>
                <a:gridCol w="1419225"/>
                <a:gridCol w="1476375"/>
                <a:gridCol w="1333500"/>
              </a:tblGrid>
              <a:tr h="523875">
                <a:tc>
                  <a:txBody>
                    <a:bodyPr/>
                    <a:lstStyle/>
                    <a:p>
                      <a:pPr indent="0" lvl="0" marL="0" rtl="0" algn="l">
                        <a:lnSpc>
                          <a:spcPct val="115000"/>
                        </a:lnSpc>
                        <a:spcBef>
                          <a:spcPts val="0"/>
                        </a:spcBef>
                        <a:spcAft>
                          <a:spcPts val="0"/>
                        </a:spcAft>
                        <a:buNone/>
                      </a:pPr>
                      <a:r>
                        <a:rPr b="1" lang="es" sz="1100">
                          <a:solidFill>
                            <a:srgbClr val="1F1F1F"/>
                          </a:solidFill>
                        </a:rPr>
                        <a:t>Microservicio (Pod)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Leo02 (Worker)</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Luish-Aspire (Worker)</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Scorpius03 (Worker)</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Luish-Nitro (Master)</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23875">
                <a:tc>
                  <a:txBody>
                    <a:bodyPr/>
                    <a:lstStyle/>
                    <a:p>
                      <a:pPr indent="0" lvl="0" marL="0" rtl="0" algn="l">
                        <a:lnSpc>
                          <a:spcPct val="115000"/>
                        </a:lnSpc>
                        <a:spcBef>
                          <a:spcPts val="0"/>
                        </a:spcBef>
                        <a:spcAft>
                          <a:spcPts val="0"/>
                        </a:spcAft>
                        <a:buNone/>
                      </a:pPr>
                      <a:r>
                        <a:rPr b="1" lang="es" sz="1100">
                          <a:solidFill>
                            <a:srgbClr val="1F1F1F"/>
                          </a:solidFill>
                        </a:rPr>
                        <a:t>teastore-auth</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9</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teastore-db</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4</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s" sz="1100">
                          <a:solidFill>
                            <a:srgbClr val="1F1F1F"/>
                          </a:solidFill>
                        </a:rPr>
                        <a:t>teastore-image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6</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8</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s" sz="1100">
                          <a:solidFill>
                            <a:srgbClr val="1F1F1F"/>
                          </a:solidFill>
                        </a:rPr>
                        <a:t>teastore-persistence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6</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s" sz="1100">
                          <a:solidFill>
                            <a:srgbClr val="1F1F1F"/>
                          </a:solidFill>
                        </a:rPr>
                        <a:t>teastore-recommender</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7</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6</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s" sz="1100">
                          <a:solidFill>
                            <a:srgbClr val="1F1F1F"/>
                          </a:solidFill>
                        </a:rPr>
                        <a:t>teastore-registry</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8</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9</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s" sz="1100">
                          <a:solidFill>
                            <a:srgbClr val="1F1F1F"/>
                          </a:solidFill>
                        </a:rPr>
                        <a:t>teastore-webui</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s" sz="1100">
                          <a:solidFill>
                            <a:srgbClr val="1F1F1F"/>
                          </a:solidFill>
                        </a:rPr>
                        <a:t>TOTAL ASIGNACIONES</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34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54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42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aphicFrame>
        <p:nvGraphicFramePr>
          <p:cNvPr id="269" name="Google Shape;269;p43"/>
          <p:cNvGraphicFramePr/>
          <p:nvPr/>
        </p:nvGraphicFramePr>
        <p:xfrm>
          <a:off x="159655" y="145145"/>
          <a:ext cx="3000000" cy="3000000"/>
        </p:xfrm>
        <a:graphic>
          <a:graphicData uri="http://schemas.openxmlformats.org/drawingml/2006/table">
            <a:tbl>
              <a:tblPr>
                <a:noFill/>
                <a:tableStyleId>{426814E3-50DF-4641-A842-31702C7681FB}</a:tableStyleId>
              </a:tblPr>
              <a:tblGrid>
                <a:gridCol w="2133600"/>
                <a:gridCol w="923925"/>
                <a:gridCol w="1409700"/>
                <a:gridCol w="1304925"/>
                <a:gridCol w="1295400"/>
                <a:gridCol w="638175"/>
              </a:tblGrid>
              <a:tr h="342900">
                <a:tc>
                  <a:txBody>
                    <a:bodyPr/>
                    <a:lstStyle/>
                    <a:p>
                      <a:pPr indent="0" lvl="0" marL="0" rtl="0" algn="l">
                        <a:lnSpc>
                          <a:spcPct val="115000"/>
                        </a:lnSpc>
                        <a:spcBef>
                          <a:spcPts val="0"/>
                        </a:spcBef>
                        <a:spcAft>
                          <a:spcPts val="0"/>
                        </a:spcAft>
                        <a:buNone/>
                      </a:pPr>
                      <a:r>
                        <a:rPr b="1" lang="es" sz="1100">
                          <a:solidFill>
                            <a:srgbClr val="1F1F1F"/>
                          </a:solidFill>
                        </a:rPr>
                        <a:t>Microservicio (Pod)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Leo02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Luish-Aspire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Scorpius03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 Luish-Nitro</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1100">
                          <a:solidFill>
                            <a:srgbClr val="1F1F1F"/>
                          </a:solidFill>
                        </a:rPr>
                        <a:t>Total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s" sz="1100">
                          <a:solidFill>
                            <a:srgbClr val="1F1F1F"/>
                          </a:solidFill>
                        </a:rPr>
                        <a:t>teastore-auth</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teastore-db</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26</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teastore-image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16</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42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teastore-persistence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teastore-recommender</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teastore-registry</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45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24</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8</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teastore-webui</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26</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22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18</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solidFill>
                            <a:srgbClr val="1F1F1F"/>
                          </a:solidFill>
                        </a:rPr>
                        <a:t>34</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TOTAL ASIGNACIONES</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161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214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158</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167</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700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s" sz="1100">
                          <a:solidFill>
                            <a:srgbClr val="1F1F1F"/>
                          </a:solidFill>
                        </a:rPr>
                        <a:t>PORCENTAJE DE CARGA</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23.0%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30.6%</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22.6%</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23.8%</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 de análisis - Top3 1000 ejecuciones</a:t>
            </a:r>
            <a:endParaRPr/>
          </a:p>
        </p:txBody>
      </p:sp>
      <p:pic>
        <p:nvPicPr>
          <p:cNvPr id="275" name="Google Shape;275;p44" title="analisis_2_carga_promedio.png"/>
          <p:cNvPicPr preferRelativeResize="0"/>
          <p:nvPr/>
        </p:nvPicPr>
        <p:blipFill>
          <a:blip r:embed="rId3">
            <a:alphaModFix/>
          </a:blip>
          <a:stretch>
            <a:fillRect/>
          </a:stretch>
        </p:blipFill>
        <p:spPr>
          <a:xfrm>
            <a:off x="645725" y="1141125"/>
            <a:ext cx="7641950" cy="3820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 de análisis - Top3 1000 ejecuciones</a:t>
            </a:r>
            <a:endParaRPr/>
          </a:p>
        </p:txBody>
      </p:sp>
      <p:pic>
        <p:nvPicPr>
          <p:cNvPr id="281" name="Google Shape;281;p45" title="tendencia_final.png"/>
          <p:cNvPicPr preferRelativeResize="0"/>
          <p:nvPr/>
        </p:nvPicPr>
        <p:blipFill>
          <a:blip r:embed="rId3">
            <a:alphaModFix/>
          </a:blip>
          <a:stretch>
            <a:fillRect/>
          </a:stretch>
        </p:blipFill>
        <p:spPr>
          <a:xfrm>
            <a:off x="500625" y="1075800"/>
            <a:ext cx="7641950" cy="3820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 de análisis - 1000 ejecuciones</a:t>
            </a:r>
            <a:endParaRPr/>
          </a:p>
        </p:txBody>
      </p:sp>
      <p:pic>
        <p:nvPicPr>
          <p:cNvPr id="287" name="Google Shape;287;p46" title="analisis_1_mapa_calor.png"/>
          <p:cNvPicPr preferRelativeResize="0"/>
          <p:nvPr/>
        </p:nvPicPr>
        <p:blipFill>
          <a:blip r:embed="rId3">
            <a:alphaModFix/>
          </a:blip>
          <a:stretch>
            <a:fillRect/>
          </a:stretch>
        </p:blipFill>
        <p:spPr>
          <a:xfrm>
            <a:off x="1001175" y="604200"/>
            <a:ext cx="6368292" cy="3820976"/>
          </a:xfrm>
          <a:prstGeom prst="rect">
            <a:avLst/>
          </a:prstGeom>
          <a:noFill/>
          <a:ln>
            <a:noFill/>
          </a:ln>
        </p:spPr>
      </p:pic>
      <p:graphicFrame>
        <p:nvGraphicFramePr>
          <p:cNvPr id="288" name="Google Shape;288;p46"/>
          <p:cNvGraphicFramePr/>
          <p:nvPr/>
        </p:nvGraphicFramePr>
        <p:xfrm>
          <a:off x="238167" y="4374545"/>
          <a:ext cx="3000000" cy="3000000"/>
        </p:xfrm>
        <a:graphic>
          <a:graphicData uri="http://schemas.openxmlformats.org/drawingml/2006/table">
            <a:tbl>
              <a:tblPr>
                <a:noFill/>
                <a:tableStyleId>{426814E3-50DF-4641-A842-31702C7681FB}</a:tableStyleId>
              </a:tblPr>
              <a:tblGrid>
                <a:gridCol w="2133600"/>
                <a:gridCol w="923925"/>
                <a:gridCol w="1014525"/>
                <a:gridCol w="1041450"/>
                <a:gridCol w="991400"/>
                <a:gridCol w="901650"/>
              </a:tblGrid>
              <a:tr h="342900">
                <a:tc>
                  <a:txBody>
                    <a:bodyPr/>
                    <a:lstStyle/>
                    <a:p>
                      <a:pPr indent="0" lvl="0" marL="0" rtl="0" algn="l">
                        <a:lnSpc>
                          <a:spcPct val="115000"/>
                        </a:lnSpc>
                        <a:spcBef>
                          <a:spcPts val="0"/>
                        </a:spcBef>
                        <a:spcAft>
                          <a:spcPts val="0"/>
                        </a:spcAft>
                        <a:buNone/>
                      </a:pPr>
                      <a:r>
                        <a:rPr b="1" lang="es" sz="1100">
                          <a:solidFill>
                            <a:srgbClr val="1F1F1F"/>
                          </a:solidFill>
                        </a:rPr>
                        <a:t>PORCENTAJE DE CARGA</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21</a:t>
                      </a:r>
                      <a:r>
                        <a:rPr b="1" lang="es" sz="1100">
                          <a:solidFill>
                            <a:srgbClr val="1F1F1F"/>
                          </a:solidFill>
                        </a:rPr>
                        <a:t>.2%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32.8%</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27.8%</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19</a:t>
                      </a:r>
                      <a:r>
                        <a:rPr b="1" lang="es" sz="1100">
                          <a:solidFill>
                            <a:srgbClr val="1F1F1F"/>
                          </a:solidFill>
                        </a:rPr>
                        <a:t>.6%</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311700" y="445025"/>
            <a:ext cx="8520600" cy="572700"/>
          </a:xfrm>
          <a:prstGeom prst="rect">
            <a:avLst/>
          </a:prstGeom>
          <a:solidFill>
            <a:srgbClr val="E06666"/>
          </a:solidFill>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a:t>Costo energético por nodo y por componente - A</a:t>
            </a:r>
            <a:endParaRPr/>
          </a:p>
        </p:txBody>
      </p:sp>
      <p:sp>
        <p:nvSpPr>
          <p:cNvPr id="294" name="Google Shape;294;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5" name="Google Shape;295;p47"/>
          <p:cNvPicPr preferRelativeResize="0"/>
          <p:nvPr/>
        </p:nvPicPr>
        <p:blipFill>
          <a:blip r:embed="rId3">
            <a:alphaModFix/>
          </a:blip>
          <a:stretch>
            <a:fillRect/>
          </a:stretch>
        </p:blipFill>
        <p:spPr>
          <a:xfrm>
            <a:off x="1487149" y="1081225"/>
            <a:ext cx="5427787" cy="3991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311700" y="445025"/>
            <a:ext cx="8520600" cy="572700"/>
          </a:xfrm>
          <a:prstGeom prst="rect">
            <a:avLst/>
          </a:prstGeom>
          <a:solidFill>
            <a:srgbClr val="B6D7A8"/>
          </a:solidFill>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a:t>Costo energético por nodo y por componente - B</a:t>
            </a:r>
            <a:endParaRPr/>
          </a:p>
        </p:txBody>
      </p:sp>
      <p:sp>
        <p:nvSpPr>
          <p:cNvPr id="301" name="Google Shape;301;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2" name="Google Shape;302;p48" title="newplot(6).png"/>
          <p:cNvPicPr preferRelativeResize="0"/>
          <p:nvPr/>
        </p:nvPicPr>
        <p:blipFill rotWithShape="1">
          <a:blip r:embed="rId4">
            <a:alphaModFix/>
          </a:blip>
          <a:srcRect b="0" l="0" r="0" t="0"/>
          <a:stretch/>
        </p:blipFill>
        <p:spPr>
          <a:xfrm>
            <a:off x="1487149" y="1081225"/>
            <a:ext cx="5427787" cy="39910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311700" y="445025"/>
            <a:ext cx="8520600" cy="572700"/>
          </a:xfrm>
          <a:prstGeom prst="rect">
            <a:avLst/>
          </a:prstGeom>
          <a:solidFill>
            <a:srgbClr val="6D9EEB"/>
          </a:solidFill>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a:t>Costo energético por nodo y por componente - C</a:t>
            </a:r>
            <a:endParaRPr/>
          </a:p>
        </p:txBody>
      </p:sp>
      <p:sp>
        <p:nvSpPr>
          <p:cNvPr id="308" name="Google Shape;308;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9" name="Google Shape;309;p49" title="newplot(7).png"/>
          <p:cNvPicPr preferRelativeResize="0"/>
          <p:nvPr/>
        </p:nvPicPr>
        <p:blipFill rotWithShape="1">
          <a:blip r:embed="rId4">
            <a:alphaModFix/>
          </a:blip>
          <a:srcRect b="0" l="0" r="0" t="0"/>
          <a:stretch/>
        </p:blipFill>
        <p:spPr>
          <a:xfrm>
            <a:off x="1487149" y="1081225"/>
            <a:ext cx="5427787" cy="39910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0" y="-48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Resumen en cuadro - </a:t>
            </a:r>
            <a:r>
              <a:rPr lang="es"/>
              <a:t>energía</a:t>
            </a:r>
            <a:r>
              <a:rPr lang="es"/>
              <a:t> por nodo y por componente</a:t>
            </a:r>
            <a:endParaRPr/>
          </a:p>
        </p:txBody>
      </p:sp>
      <p:graphicFrame>
        <p:nvGraphicFramePr>
          <p:cNvPr id="315" name="Google Shape;315;p50"/>
          <p:cNvGraphicFramePr/>
          <p:nvPr/>
        </p:nvGraphicFramePr>
        <p:xfrm>
          <a:off x="549400" y="466825"/>
          <a:ext cx="3000000" cy="3000000"/>
        </p:xfrm>
        <a:graphic>
          <a:graphicData uri="http://schemas.openxmlformats.org/drawingml/2006/table">
            <a:tbl>
              <a:tblPr>
                <a:noFill/>
                <a:tableStyleId>{400C7C72-F28C-49EA-99AB-05BCD800B0CD}</a:tableStyleId>
              </a:tblPr>
              <a:tblGrid>
                <a:gridCol w="1101800"/>
                <a:gridCol w="1101800"/>
                <a:gridCol w="1101800"/>
                <a:gridCol w="1101800"/>
                <a:gridCol w="1101800"/>
                <a:gridCol w="1101800"/>
              </a:tblGrid>
              <a:tr h="355725">
                <a:tc rowSpan="2">
                  <a:txBody>
                    <a:bodyPr/>
                    <a:lstStyle/>
                    <a:p>
                      <a:pPr indent="0" lvl="0" marL="0" rtl="0" algn="l">
                        <a:spcBef>
                          <a:spcPts val="0"/>
                        </a:spcBef>
                        <a:spcAft>
                          <a:spcPts val="0"/>
                        </a:spcAft>
                        <a:buNone/>
                      </a:pPr>
                      <a:r>
                        <a:rPr lang="es" sz="900"/>
                        <a:t>Distribuciones</a:t>
                      </a:r>
                      <a:endParaRPr sz="900"/>
                    </a:p>
                  </a:txBody>
                  <a:tcPr marT="91425" marB="91425" marR="91425" marL="91425"/>
                </a:tc>
                <a:tc rowSpan="2">
                  <a:txBody>
                    <a:bodyPr/>
                    <a:lstStyle/>
                    <a:p>
                      <a:pPr indent="0" lvl="0" marL="0" rtl="0" algn="l">
                        <a:spcBef>
                          <a:spcPts val="0"/>
                        </a:spcBef>
                        <a:spcAft>
                          <a:spcPts val="0"/>
                        </a:spcAft>
                        <a:buNone/>
                      </a:pPr>
                      <a:r>
                        <a:rPr lang="es" sz="900"/>
                        <a:t>Nodos</a:t>
                      </a:r>
                      <a:endParaRPr sz="900"/>
                    </a:p>
                  </a:txBody>
                  <a:tcPr marT="91425" marB="91425" marR="91425" marL="91425"/>
                </a:tc>
                <a:tc gridSpan="4">
                  <a:txBody>
                    <a:bodyPr/>
                    <a:lstStyle/>
                    <a:p>
                      <a:pPr indent="0" lvl="0" marL="0" rtl="0" algn="ctr">
                        <a:spcBef>
                          <a:spcPts val="0"/>
                        </a:spcBef>
                        <a:spcAft>
                          <a:spcPts val="0"/>
                        </a:spcAft>
                        <a:buNone/>
                      </a:pPr>
                      <a:r>
                        <a:rPr lang="es" sz="900"/>
                        <a:t>Componentes</a:t>
                      </a:r>
                      <a:endParaRPr sz="900"/>
                    </a:p>
                  </a:txBody>
                  <a:tcPr marT="91425" marB="91425" marR="91425" marL="91425"/>
                </a:tc>
                <a:tc hMerge="1"/>
                <a:tc hMerge="1"/>
                <a:tc hMerge="1"/>
              </a:tr>
              <a:tr h="314675">
                <a:tc vMerge="1"/>
                <a:tc vMerge="1"/>
                <a:tc>
                  <a:txBody>
                    <a:bodyPr/>
                    <a:lstStyle/>
                    <a:p>
                      <a:pPr indent="0" lvl="0" marL="0" rtl="0" algn="l">
                        <a:spcBef>
                          <a:spcPts val="0"/>
                        </a:spcBef>
                        <a:spcAft>
                          <a:spcPts val="0"/>
                        </a:spcAft>
                        <a:buNone/>
                      </a:pPr>
                      <a:r>
                        <a:rPr lang="es" sz="900"/>
                        <a:t>CPU</a:t>
                      </a:r>
                      <a:endParaRPr sz="900"/>
                    </a:p>
                  </a:txBody>
                  <a:tcPr marT="91425" marB="91425" marR="91425" marL="91425"/>
                </a:tc>
                <a:tc>
                  <a:txBody>
                    <a:bodyPr/>
                    <a:lstStyle/>
                    <a:p>
                      <a:pPr indent="0" lvl="0" marL="0" rtl="0" algn="l">
                        <a:spcBef>
                          <a:spcPts val="0"/>
                        </a:spcBef>
                        <a:spcAft>
                          <a:spcPts val="0"/>
                        </a:spcAft>
                        <a:buNone/>
                      </a:pPr>
                      <a:r>
                        <a:rPr lang="es" sz="900"/>
                        <a:t>RAM</a:t>
                      </a:r>
                      <a:endParaRPr sz="900"/>
                    </a:p>
                  </a:txBody>
                  <a:tcPr marT="91425" marB="91425" marR="91425" marL="91425"/>
                </a:tc>
                <a:tc>
                  <a:txBody>
                    <a:bodyPr/>
                    <a:lstStyle/>
                    <a:p>
                      <a:pPr indent="0" lvl="0" marL="0" rtl="0" algn="l">
                        <a:spcBef>
                          <a:spcPts val="0"/>
                        </a:spcBef>
                        <a:spcAft>
                          <a:spcPts val="0"/>
                        </a:spcAft>
                        <a:buNone/>
                      </a:pPr>
                      <a:r>
                        <a:rPr lang="es" sz="900"/>
                        <a:t>NIC</a:t>
                      </a:r>
                      <a:endParaRPr sz="900"/>
                    </a:p>
                  </a:txBody>
                  <a:tcPr marT="91425" marB="91425" marR="91425" marL="91425"/>
                </a:tc>
                <a:tc>
                  <a:txBody>
                    <a:bodyPr/>
                    <a:lstStyle/>
                    <a:p>
                      <a:pPr indent="0" lvl="0" marL="0" rtl="0" algn="l">
                        <a:spcBef>
                          <a:spcPts val="0"/>
                        </a:spcBef>
                        <a:spcAft>
                          <a:spcPts val="0"/>
                        </a:spcAft>
                        <a:buNone/>
                      </a:pPr>
                      <a:r>
                        <a:rPr lang="es" sz="900"/>
                        <a:t>SD</a:t>
                      </a:r>
                      <a:endParaRPr sz="900"/>
                    </a:p>
                  </a:txBody>
                  <a:tcPr marT="91425" marB="91425" marR="91425" marL="91425"/>
                </a:tc>
              </a:tr>
              <a:tr h="314675">
                <a:tc rowSpan="4">
                  <a:txBody>
                    <a:bodyPr/>
                    <a:lstStyle/>
                    <a:p>
                      <a:pPr indent="0" lvl="0" marL="0" rtl="0" algn="l">
                        <a:spcBef>
                          <a:spcPts val="0"/>
                        </a:spcBef>
                        <a:spcAft>
                          <a:spcPts val="0"/>
                        </a:spcAft>
                        <a:buNone/>
                      </a:pPr>
                      <a:r>
                        <a:rPr lang="es" sz="900">
                          <a:solidFill>
                            <a:schemeClr val="dk1"/>
                          </a:solidFill>
                        </a:rPr>
                        <a:t>Distribución A</a:t>
                      </a:r>
                      <a:endParaRPr sz="900"/>
                    </a:p>
                  </a:txBody>
                  <a:tcPr marT="91425" marB="91425" marR="91425" marL="91425"/>
                </a:tc>
                <a:tc>
                  <a:txBody>
                    <a:bodyPr/>
                    <a:lstStyle/>
                    <a:p>
                      <a:pPr indent="0" lvl="0" marL="0" rtl="0" algn="l">
                        <a:spcBef>
                          <a:spcPts val="0"/>
                        </a:spcBef>
                        <a:spcAft>
                          <a:spcPts val="0"/>
                        </a:spcAft>
                        <a:buNone/>
                      </a:pPr>
                      <a:r>
                        <a:rPr lang="es" sz="900"/>
                        <a:t>aspire</a:t>
                      </a:r>
                      <a:endParaRPr sz="900"/>
                    </a:p>
                  </a:txBody>
                  <a:tcPr marT="91425" marB="91425" marR="91425" marL="91425"/>
                </a:tc>
                <a:tc>
                  <a:txBody>
                    <a:bodyPr/>
                    <a:lstStyle/>
                    <a:p>
                      <a:pPr indent="0" lvl="0" marL="0" rtl="0" algn="l">
                        <a:spcBef>
                          <a:spcPts val="0"/>
                        </a:spcBef>
                        <a:spcAft>
                          <a:spcPts val="0"/>
                        </a:spcAft>
                        <a:buNone/>
                      </a:pPr>
                      <a:r>
                        <a:rPr b="1" lang="es" sz="900"/>
                        <a:t>85.77</a:t>
                      </a:r>
                      <a:endParaRPr b="1" sz="900"/>
                    </a:p>
                  </a:txBody>
                  <a:tcPr marT="91425" marB="91425" marR="91425" marL="91425"/>
                </a:tc>
                <a:tc>
                  <a:txBody>
                    <a:bodyPr/>
                    <a:lstStyle/>
                    <a:p>
                      <a:pPr indent="0" lvl="0" marL="0" rtl="0" algn="l">
                        <a:spcBef>
                          <a:spcPts val="0"/>
                        </a:spcBef>
                        <a:spcAft>
                          <a:spcPts val="0"/>
                        </a:spcAft>
                        <a:buNone/>
                      </a:pPr>
                      <a:r>
                        <a:rPr b="1" lang="es" sz="900"/>
                        <a:t>74.54</a:t>
                      </a:r>
                      <a:endParaRPr b="1" sz="900"/>
                    </a:p>
                  </a:txBody>
                  <a:tcPr marT="91425" marB="91425" marR="91425" marL="91425"/>
                </a:tc>
                <a:tc>
                  <a:txBody>
                    <a:bodyPr/>
                    <a:lstStyle/>
                    <a:p>
                      <a:pPr indent="0" lvl="0" marL="0" rtl="0" algn="l">
                        <a:spcBef>
                          <a:spcPts val="0"/>
                        </a:spcBef>
                        <a:spcAft>
                          <a:spcPts val="0"/>
                        </a:spcAft>
                        <a:buNone/>
                      </a:pPr>
                      <a:r>
                        <a:rPr lang="es" sz="900"/>
                        <a:t>0.15</a:t>
                      </a:r>
                      <a:endParaRPr sz="900"/>
                    </a:p>
                  </a:txBody>
                  <a:tcPr marT="91425" marB="91425" marR="91425" marL="91425"/>
                </a:tc>
                <a:tc>
                  <a:txBody>
                    <a:bodyPr/>
                    <a:lstStyle/>
                    <a:p>
                      <a:pPr indent="0" lvl="0" marL="0" rtl="0" algn="l">
                        <a:spcBef>
                          <a:spcPts val="0"/>
                        </a:spcBef>
                        <a:spcAft>
                          <a:spcPts val="0"/>
                        </a:spcAft>
                        <a:buNone/>
                      </a:pPr>
                      <a:r>
                        <a:rPr b="1" lang="es" sz="900"/>
                        <a:t>710.26</a:t>
                      </a:r>
                      <a:endParaRPr b="1" sz="900"/>
                    </a:p>
                  </a:txBody>
                  <a:tcPr marT="91425" marB="91425" marR="91425" marL="91425"/>
                </a:tc>
              </a:tr>
              <a:tr h="314675">
                <a:tc vMerge="1"/>
                <a:tc>
                  <a:txBody>
                    <a:bodyPr/>
                    <a:lstStyle/>
                    <a:p>
                      <a:pPr indent="0" lvl="0" marL="0" rtl="0" algn="l">
                        <a:spcBef>
                          <a:spcPts val="0"/>
                        </a:spcBef>
                        <a:spcAft>
                          <a:spcPts val="0"/>
                        </a:spcAft>
                        <a:buNone/>
                      </a:pPr>
                      <a:r>
                        <a:rPr lang="es" sz="900"/>
                        <a:t>leo</a:t>
                      </a:r>
                      <a:endParaRPr sz="900"/>
                    </a:p>
                  </a:txBody>
                  <a:tcPr marT="91425" marB="91425" marR="91425" marL="91425"/>
                </a:tc>
                <a:tc>
                  <a:txBody>
                    <a:bodyPr/>
                    <a:lstStyle/>
                    <a:p>
                      <a:pPr indent="0" lvl="0" marL="0" rtl="0" algn="l">
                        <a:spcBef>
                          <a:spcPts val="0"/>
                        </a:spcBef>
                        <a:spcAft>
                          <a:spcPts val="0"/>
                        </a:spcAft>
                        <a:buNone/>
                      </a:pPr>
                      <a:r>
                        <a:rPr lang="es" sz="900"/>
                        <a:t>49.98</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0.23</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nitro</a:t>
                      </a:r>
                      <a:endParaRPr sz="900"/>
                    </a:p>
                  </a:txBody>
                  <a:tcPr marT="91425" marB="91425" marR="91425" marL="91425"/>
                </a:tc>
                <a:tc>
                  <a:txBody>
                    <a:bodyPr/>
                    <a:lstStyle/>
                    <a:p>
                      <a:pPr indent="0" lvl="0" marL="0" rtl="0" algn="l">
                        <a:spcBef>
                          <a:spcPts val="0"/>
                        </a:spcBef>
                        <a:spcAft>
                          <a:spcPts val="0"/>
                        </a:spcAft>
                        <a:buNone/>
                      </a:pPr>
                      <a:r>
                        <a:rPr lang="es" sz="900"/>
                        <a:t>23.35</a:t>
                      </a:r>
                      <a:endParaRPr sz="900"/>
                    </a:p>
                  </a:txBody>
                  <a:tcPr marT="91425" marB="91425" marR="91425" marL="91425"/>
                </a:tc>
                <a:tc>
                  <a:txBody>
                    <a:bodyPr/>
                    <a:lstStyle/>
                    <a:p>
                      <a:pPr indent="0" lvl="0" marL="0" rtl="0" algn="l">
                        <a:spcBef>
                          <a:spcPts val="0"/>
                        </a:spcBef>
                        <a:spcAft>
                          <a:spcPts val="0"/>
                        </a:spcAft>
                        <a:buNone/>
                      </a:pPr>
                      <a:r>
                        <a:rPr lang="es" sz="900"/>
                        <a:t>12.23</a:t>
                      </a:r>
                      <a:endParaRPr sz="900"/>
                    </a:p>
                  </a:txBody>
                  <a:tcPr marT="91425" marB="91425" marR="91425" marL="91425"/>
                </a:tc>
                <a:tc>
                  <a:txBody>
                    <a:bodyPr/>
                    <a:lstStyle/>
                    <a:p>
                      <a:pPr indent="0" lvl="0" marL="0" rtl="0" algn="l">
                        <a:spcBef>
                          <a:spcPts val="0"/>
                        </a:spcBef>
                        <a:spcAft>
                          <a:spcPts val="0"/>
                        </a:spcAft>
                        <a:buNone/>
                      </a:pPr>
                      <a:r>
                        <a:rPr b="1" lang="es" sz="900"/>
                        <a:t>0.24</a:t>
                      </a:r>
                      <a:endParaRPr b="1" sz="900"/>
                    </a:p>
                  </a:txBody>
                  <a:tcPr marT="91425" marB="91425" marR="91425" marL="91425"/>
                </a:tc>
                <a:tc>
                  <a:txBody>
                    <a:bodyPr/>
                    <a:lstStyle/>
                    <a:p>
                      <a:pPr indent="0" lvl="0" marL="0" rtl="0" algn="l">
                        <a:spcBef>
                          <a:spcPts val="0"/>
                        </a:spcBef>
                        <a:spcAft>
                          <a:spcPts val="0"/>
                        </a:spcAft>
                        <a:buNone/>
                      </a:pPr>
                      <a:r>
                        <a:rPr lang="es" sz="900"/>
                        <a:t>6.14</a:t>
                      </a:r>
                      <a:endParaRPr sz="900"/>
                    </a:p>
                  </a:txBody>
                  <a:tcPr marT="91425" marB="91425" marR="91425" marL="91425"/>
                </a:tc>
              </a:tr>
              <a:tr h="314675">
                <a:tc vMerge="1"/>
                <a:tc>
                  <a:txBody>
                    <a:bodyPr/>
                    <a:lstStyle/>
                    <a:p>
                      <a:pPr indent="0" lvl="0" marL="0" rtl="0" algn="l">
                        <a:spcBef>
                          <a:spcPts val="0"/>
                        </a:spcBef>
                        <a:spcAft>
                          <a:spcPts val="0"/>
                        </a:spcAft>
                        <a:buNone/>
                      </a:pPr>
                      <a:r>
                        <a:rPr lang="es" sz="900"/>
                        <a:t>scorpius</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25.26</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0.04</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rowSpan="4">
                  <a:txBody>
                    <a:bodyPr/>
                    <a:lstStyle/>
                    <a:p>
                      <a:pPr indent="0" lvl="0" marL="0" rtl="0" algn="l">
                        <a:spcBef>
                          <a:spcPts val="0"/>
                        </a:spcBef>
                        <a:spcAft>
                          <a:spcPts val="0"/>
                        </a:spcAft>
                        <a:buNone/>
                      </a:pPr>
                      <a:r>
                        <a:rPr lang="es" sz="900">
                          <a:solidFill>
                            <a:schemeClr val="dk1"/>
                          </a:solidFill>
                        </a:rPr>
                        <a:t>Distribución B</a:t>
                      </a:r>
                      <a:endParaRPr sz="9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 sz="900"/>
                        <a:t>aspire</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84.61</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s" sz="900"/>
                        <a:t>67.07</a:t>
                      </a:r>
                      <a:endParaRPr b="1" sz="900"/>
                    </a:p>
                  </a:txBody>
                  <a:tcPr marT="91425" marB="91425" marR="91425" marL="91425"/>
                </a:tc>
                <a:tc>
                  <a:txBody>
                    <a:bodyPr/>
                    <a:lstStyle/>
                    <a:p>
                      <a:pPr indent="0" lvl="0" marL="0" rtl="0" algn="l">
                        <a:spcBef>
                          <a:spcPts val="0"/>
                        </a:spcBef>
                        <a:spcAft>
                          <a:spcPts val="0"/>
                        </a:spcAft>
                        <a:buNone/>
                      </a:pPr>
                      <a:r>
                        <a:rPr b="1" lang="es" sz="900"/>
                        <a:t>0.11</a:t>
                      </a:r>
                      <a:endParaRPr b="1" sz="900"/>
                    </a:p>
                  </a:txBody>
                  <a:tcPr marT="91425" marB="91425" marR="91425" marL="91425"/>
                </a:tc>
                <a:tc>
                  <a:txBody>
                    <a:bodyPr/>
                    <a:lstStyle/>
                    <a:p>
                      <a:pPr indent="0" lvl="0" marL="0" rtl="0" algn="l">
                        <a:spcBef>
                          <a:spcPts val="0"/>
                        </a:spcBef>
                        <a:spcAft>
                          <a:spcPts val="0"/>
                        </a:spcAft>
                        <a:buNone/>
                      </a:pPr>
                      <a:r>
                        <a:rPr lang="es" sz="900"/>
                        <a:t>4.57</a:t>
                      </a:r>
                      <a:endParaRPr sz="900"/>
                    </a:p>
                  </a:txBody>
                  <a:tcPr marT="91425" marB="91425" marR="91425" marL="91425"/>
                </a:tc>
              </a:tr>
              <a:tr h="314675">
                <a:tc vMerge="1"/>
                <a:tc>
                  <a:txBody>
                    <a:bodyPr/>
                    <a:lstStyle/>
                    <a:p>
                      <a:pPr indent="0" lvl="0" marL="0" rtl="0" algn="l">
                        <a:spcBef>
                          <a:spcPts val="0"/>
                        </a:spcBef>
                        <a:spcAft>
                          <a:spcPts val="0"/>
                        </a:spcAft>
                        <a:buNone/>
                      </a:pPr>
                      <a:r>
                        <a:rPr lang="es" sz="900"/>
                        <a:t>leo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s" sz="900"/>
                        <a:t>549.09</a:t>
                      </a:r>
                      <a:endParaRPr b="1"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0.01</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nitro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36.01</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21.77</a:t>
                      </a:r>
                      <a:endParaRPr sz="900"/>
                    </a:p>
                  </a:txBody>
                  <a:tcPr marT="91425" marB="91425" marR="91425" marL="91425"/>
                </a:tc>
                <a:tc>
                  <a:txBody>
                    <a:bodyPr/>
                    <a:lstStyle/>
                    <a:p>
                      <a:pPr indent="0" lvl="0" marL="0" rtl="0" algn="l">
                        <a:spcBef>
                          <a:spcPts val="0"/>
                        </a:spcBef>
                        <a:spcAft>
                          <a:spcPts val="0"/>
                        </a:spcAft>
                        <a:buNone/>
                      </a:pPr>
                      <a:r>
                        <a:rPr lang="es" sz="900"/>
                        <a:t>0.08</a:t>
                      </a:r>
                      <a:endParaRPr sz="900"/>
                    </a:p>
                  </a:txBody>
                  <a:tcPr marT="91425" marB="91425" marR="91425" marL="91425"/>
                </a:tc>
                <a:tc>
                  <a:txBody>
                    <a:bodyPr/>
                    <a:lstStyle/>
                    <a:p>
                      <a:pPr indent="0" lvl="0" marL="0" rtl="0" algn="l">
                        <a:spcBef>
                          <a:spcPts val="0"/>
                        </a:spcBef>
                        <a:spcAft>
                          <a:spcPts val="0"/>
                        </a:spcAft>
                        <a:buNone/>
                      </a:pPr>
                      <a:r>
                        <a:rPr b="1" lang="es" sz="900"/>
                        <a:t>7.11</a:t>
                      </a:r>
                      <a:endParaRPr b="1" sz="900"/>
                    </a:p>
                  </a:txBody>
                  <a:tcPr marT="91425" marB="91425" marR="91425" marL="91425"/>
                </a:tc>
              </a:tr>
              <a:tr h="314675">
                <a:tc vMerge="1"/>
                <a:tc>
                  <a:txBody>
                    <a:bodyPr/>
                    <a:lstStyle/>
                    <a:p>
                      <a:pPr indent="0" lvl="0" marL="0" rtl="0" algn="l">
                        <a:spcBef>
                          <a:spcPts val="0"/>
                        </a:spcBef>
                        <a:spcAft>
                          <a:spcPts val="0"/>
                        </a:spcAft>
                        <a:buNone/>
                      </a:pPr>
                      <a:r>
                        <a:rPr lang="es" sz="900"/>
                        <a:t>scorpius</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27.38</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0.2</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rowSpan="4">
                  <a:txBody>
                    <a:bodyPr/>
                    <a:lstStyle/>
                    <a:p>
                      <a:pPr indent="0" lvl="0" marL="0" rtl="0" algn="l">
                        <a:spcBef>
                          <a:spcPts val="0"/>
                        </a:spcBef>
                        <a:spcAft>
                          <a:spcPts val="0"/>
                        </a:spcAft>
                        <a:buNone/>
                      </a:pPr>
                      <a:r>
                        <a:rPr lang="es" sz="900">
                          <a:solidFill>
                            <a:schemeClr val="dk1"/>
                          </a:solidFill>
                        </a:rPr>
                        <a:t>Distribución C</a:t>
                      </a:r>
                      <a:endParaRPr sz="9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 sz="900"/>
                        <a:t>aspire</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s" sz="900"/>
                        <a:t>85.64</a:t>
                      </a:r>
                      <a:endParaRPr b="1"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s" sz="900"/>
                        <a:t>72.14</a:t>
                      </a:r>
                      <a:endParaRPr b="1"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b="1" lang="es" sz="900"/>
                        <a:t>2228.10</a:t>
                      </a:r>
                      <a:endParaRPr b="1" sz="900"/>
                    </a:p>
                  </a:txBody>
                  <a:tcPr marT="91425" marB="91425" marR="91425" marL="91425"/>
                </a:tc>
              </a:tr>
              <a:tr h="314675">
                <a:tc vMerge="1"/>
                <a:tc>
                  <a:txBody>
                    <a:bodyPr/>
                    <a:lstStyle/>
                    <a:p>
                      <a:pPr indent="0" lvl="0" marL="0" rtl="0" algn="l">
                        <a:spcBef>
                          <a:spcPts val="0"/>
                        </a:spcBef>
                        <a:spcAft>
                          <a:spcPts val="0"/>
                        </a:spcAft>
                        <a:buNone/>
                      </a:pPr>
                      <a:r>
                        <a:rPr lang="es" sz="900"/>
                        <a:t>leo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24.69</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0.1</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nitro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32.63</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16.19</a:t>
                      </a:r>
                      <a:endParaRPr sz="900"/>
                    </a:p>
                  </a:txBody>
                  <a:tcPr marT="91425" marB="91425" marR="91425" marL="91425"/>
                </a:tc>
                <a:tc>
                  <a:txBody>
                    <a:bodyPr/>
                    <a:lstStyle/>
                    <a:p>
                      <a:pPr indent="0" lvl="0" marL="0" rtl="0" algn="l">
                        <a:spcBef>
                          <a:spcPts val="0"/>
                        </a:spcBef>
                        <a:spcAft>
                          <a:spcPts val="0"/>
                        </a:spcAft>
                        <a:buNone/>
                      </a:pPr>
                      <a:r>
                        <a:rPr b="1" lang="es" sz="900"/>
                        <a:t>0.59</a:t>
                      </a:r>
                      <a:endParaRPr b="1" sz="900"/>
                    </a:p>
                  </a:txBody>
                  <a:tcPr marT="91425" marB="91425" marR="91425" marL="91425"/>
                </a:tc>
                <a:tc>
                  <a:txBody>
                    <a:bodyPr/>
                    <a:lstStyle/>
                    <a:p>
                      <a:pPr indent="0" lvl="0" marL="0" rtl="0" algn="l">
                        <a:spcBef>
                          <a:spcPts val="0"/>
                        </a:spcBef>
                        <a:spcAft>
                          <a:spcPts val="0"/>
                        </a:spcAft>
                        <a:buNone/>
                      </a:pPr>
                      <a:r>
                        <a:rPr lang="es" sz="900"/>
                        <a:t>10.67</a:t>
                      </a:r>
                      <a:endParaRPr sz="900"/>
                    </a:p>
                  </a:txBody>
                  <a:tcPr marT="91425" marB="91425" marR="91425" marL="91425"/>
                </a:tc>
              </a:tr>
              <a:tr h="314675">
                <a:tc vMerge="1"/>
                <a:tc>
                  <a:txBody>
                    <a:bodyPr/>
                    <a:lstStyle/>
                    <a:p>
                      <a:pPr indent="0" lvl="0" marL="0" rtl="0" algn="l">
                        <a:spcBef>
                          <a:spcPts val="0"/>
                        </a:spcBef>
                        <a:spcAft>
                          <a:spcPts val="0"/>
                        </a:spcAft>
                        <a:buNone/>
                      </a:pPr>
                      <a:r>
                        <a:rPr lang="es" sz="900"/>
                        <a:t>scorpius</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41.94</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0.09</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0" y="0"/>
            <a:ext cx="8520600" cy="572700"/>
          </a:xfrm>
          <a:prstGeom prst="rect">
            <a:avLst/>
          </a:prstGeom>
          <a:solidFill>
            <a:srgbClr val="E06666"/>
          </a:solidFill>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a:t>Costo energético por pod del benchmark</a:t>
            </a:r>
            <a:r>
              <a:rPr lang="es"/>
              <a:t> - A</a:t>
            </a:r>
            <a:endParaRPr/>
          </a:p>
        </p:txBody>
      </p:sp>
      <p:pic>
        <p:nvPicPr>
          <p:cNvPr id="321" name="Google Shape;321;p51"/>
          <p:cNvPicPr preferRelativeResize="0"/>
          <p:nvPr/>
        </p:nvPicPr>
        <p:blipFill rotWithShape="1">
          <a:blip r:embed="rId4">
            <a:alphaModFix/>
          </a:blip>
          <a:srcRect b="15544" l="0" r="0" t="8737"/>
          <a:stretch/>
        </p:blipFill>
        <p:spPr>
          <a:xfrm>
            <a:off x="1335700" y="572700"/>
            <a:ext cx="5959224" cy="1327125"/>
          </a:xfrm>
          <a:prstGeom prst="rect">
            <a:avLst/>
          </a:prstGeom>
          <a:noFill/>
          <a:ln>
            <a:noFill/>
          </a:ln>
        </p:spPr>
      </p:pic>
      <p:pic>
        <p:nvPicPr>
          <p:cNvPr id="322" name="Google Shape;322;p51"/>
          <p:cNvPicPr preferRelativeResize="0"/>
          <p:nvPr/>
        </p:nvPicPr>
        <p:blipFill rotWithShape="1">
          <a:blip r:embed="rId5">
            <a:alphaModFix/>
          </a:blip>
          <a:srcRect b="7987" l="0" r="0" t="8983"/>
          <a:stretch/>
        </p:blipFill>
        <p:spPr>
          <a:xfrm>
            <a:off x="1350022" y="3774975"/>
            <a:ext cx="5820548" cy="1421450"/>
          </a:xfrm>
          <a:prstGeom prst="rect">
            <a:avLst/>
          </a:prstGeom>
          <a:noFill/>
          <a:ln>
            <a:noFill/>
          </a:ln>
        </p:spPr>
      </p:pic>
      <p:pic>
        <p:nvPicPr>
          <p:cNvPr id="323" name="Google Shape;323;p51"/>
          <p:cNvPicPr preferRelativeResize="0"/>
          <p:nvPr/>
        </p:nvPicPr>
        <p:blipFill rotWithShape="1">
          <a:blip r:embed="rId6">
            <a:alphaModFix/>
          </a:blip>
          <a:srcRect b="15124" l="0" r="0" t="7356"/>
          <a:stretch/>
        </p:blipFill>
        <p:spPr>
          <a:xfrm>
            <a:off x="992775" y="2092375"/>
            <a:ext cx="6535058" cy="149003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2"/>
          <p:cNvSpPr txBox="1"/>
          <p:nvPr>
            <p:ph type="title"/>
          </p:nvPr>
        </p:nvSpPr>
        <p:spPr>
          <a:xfrm>
            <a:off x="0" y="0"/>
            <a:ext cx="8520600" cy="572700"/>
          </a:xfrm>
          <a:prstGeom prst="rect">
            <a:avLst/>
          </a:prstGeom>
          <a:solidFill>
            <a:srgbClr val="B6D7A8"/>
          </a:solidFill>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a:t>Costo energético por pod del benchmark</a:t>
            </a:r>
            <a:r>
              <a:rPr lang="es"/>
              <a:t> - B</a:t>
            </a:r>
            <a:endParaRPr/>
          </a:p>
        </p:txBody>
      </p:sp>
      <p:sp>
        <p:nvSpPr>
          <p:cNvPr id="329" name="Google Shape;329;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0" name="Google Shape;330;p52" title="newplot(13).png"/>
          <p:cNvPicPr preferRelativeResize="0"/>
          <p:nvPr/>
        </p:nvPicPr>
        <p:blipFill rotWithShape="1">
          <a:blip r:embed="rId3">
            <a:alphaModFix/>
          </a:blip>
          <a:srcRect b="0" l="0" r="0" t="4879"/>
          <a:stretch/>
        </p:blipFill>
        <p:spPr>
          <a:xfrm>
            <a:off x="1408500" y="3547876"/>
            <a:ext cx="5703599" cy="1595625"/>
          </a:xfrm>
          <a:prstGeom prst="rect">
            <a:avLst/>
          </a:prstGeom>
          <a:noFill/>
          <a:ln>
            <a:noFill/>
          </a:ln>
        </p:spPr>
      </p:pic>
      <p:pic>
        <p:nvPicPr>
          <p:cNvPr id="331" name="Google Shape;331;p52"/>
          <p:cNvPicPr preferRelativeResize="0"/>
          <p:nvPr/>
        </p:nvPicPr>
        <p:blipFill rotWithShape="1">
          <a:blip r:embed="rId4">
            <a:alphaModFix/>
          </a:blip>
          <a:srcRect b="13722" l="0" r="0" t="6123"/>
          <a:stretch/>
        </p:blipFill>
        <p:spPr>
          <a:xfrm>
            <a:off x="1408500" y="633600"/>
            <a:ext cx="5703599" cy="1344600"/>
          </a:xfrm>
          <a:prstGeom prst="rect">
            <a:avLst/>
          </a:prstGeom>
          <a:noFill/>
          <a:ln>
            <a:noFill/>
          </a:ln>
        </p:spPr>
      </p:pic>
      <p:pic>
        <p:nvPicPr>
          <p:cNvPr id="332" name="Google Shape;332;p52"/>
          <p:cNvPicPr preferRelativeResize="0"/>
          <p:nvPr/>
        </p:nvPicPr>
        <p:blipFill rotWithShape="1">
          <a:blip r:embed="rId5">
            <a:alphaModFix/>
          </a:blip>
          <a:srcRect b="14671" l="0" r="0" t="8351"/>
          <a:stretch/>
        </p:blipFill>
        <p:spPr>
          <a:xfrm>
            <a:off x="1290831" y="2188375"/>
            <a:ext cx="5938943" cy="1344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3"/>
          <p:cNvSpPr txBox="1"/>
          <p:nvPr>
            <p:ph type="title"/>
          </p:nvPr>
        </p:nvSpPr>
        <p:spPr>
          <a:xfrm>
            <a:off x="0" y="0"/>
            <a:ext cx="8520600" cy="572700"/>
          </a:xfrm>
          <a:prstGeom prst="rect">
            <a:avLst/>
          </a:prstGeom>
          <a:solidFill>
            <a:srgbClr val="6D9EEB"/>
          </a:solidFill>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s"/>
              <a:t>Costo energético por pod del benchmark</a:t>
            </a:r>
            <a:r>
              <a:rPr lang="es"/>
              <a:t> - C</a:t>
            </a:r>
            <a:endParaRPr/>
          </a:p>
        </p:txBody>
      </p:sp>
      <p:sp>
        <p:nvSpPr>
          <p:cNvPr id="338" name="Google Shape;33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9" name="Google Shape;339;p53"/>
          <p:cNvPicPr preferRelativeResize="0"/>
          <p:nvPr/>
        </p:nvPicPr>
        <p:blipFill rotWithShape="1">
          <a:blip r:embed="rId3">
            <a:alphaModFix/>
          </a:blip>
          <a:srcRect b="7654" l="0" r="0" t="8134"/>
          <a:stretch/>
        </p:blipFill>
        <p:spPr>
          <a:xfrm>
            <a:off x="1262950" y="3701050"/>
            <a:ext cx="5994710" cy="1484800"/>
          </a:xfrm>
          <a:prstGeom prst="rect">
            <a:avLst/>
          </a:prstGeom>
          <a:noFill/>
          <a:ln>
            <a:noFill/>
          </a:ln>
        </p:spPr>
      </p:pic>
      <p:pic>
        <p:nvPicPr>
          <p:cNvPr id="340" name="Google Shape;340;p53"/>
          <p:cNvPicPr preferRelativeResize="0"/>
          <p:nvPr/>
        </p:nvPicPr>
        <p:blipFill rotWithShape="1">
          <a:blip r:embed="rId4">
            <a:alphaModFix/>
          </a:blip>
          <a:srcRect b="14334" l="0" r="0" t="8140"/>
          <a:stretch/>
        </p:blipFill>
        <p:spPr>
          <a:xfrm>
            <a:off x="953900" y="2057500"/>
            <a:ext cx="6511989" cy="1484800"/>
          </a:xfrm>
          <a:prstGeom prst="rect">
            <a:avLst/>
          </a:prstGeom>
          <a:noFill/>
          <a:ln>
            <a:noFill/>
          </a:ln>
        </p:spPr>
      </p:pic>
      <p:pic>
        <p:nvPicPr>
          <p:cNvPr id="341" name="Google Shape;341;p53"/>
          <p:cNvPicPr preferRelativeResize="0"/>
          <p:nvPr/>
        </p:nvPicPr>
        <p:blipFill rotWithShape="1">
          <a:blip r:embed="rId5">
            <a:alphaModFix/>
          </a:blip>
          <a:srcRect b="15856" l="0" r="0" t="7802"/>
          <a:stretch/>
        </p:blipFill>
        <p:spPr>
          <a:xfrm>
            <a:off x="953900" y="572700"/>
            <a:ext cx="6612799" cy="1484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ph type="title"/>
          </p:nvPr>
        </p:nvSpPr>
        <p:spPr>
          <a:xfrm>
            <a:off x="0" y="-48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Resumen en cuadro</a:t>
            </a:r>
            <a:endParaRPr/>
          </a:p>
        </p:txBody>
      </p:sp>
      <p:graphicFrame>
        <p:nvGraphicFramePr>
          <p:cNvPr id="347" name="Google Shape;347;p54"/>
          <p:cNvGraphicFramePr/>
          <p:nvPr/>
        </p:nvGraphicFramePr>
        <p:xfrm>
          <a:off x="549400" y="466825"/>
          <a:ext cx="3000000" cy="3000000"/>
        </p:xfrm>
        <a:graphic>
          <a:graphicData uri="http://schemas.openxmlformats.org/drawingml/2006/table">
            <a:tbl>
              <a:tblPr>
                <a:noFill/>
                <a:tableStyleId>{400C7C72-F28C-49EA-99AB-05BCD800B0CD}</a:tableStyleId>
              </a:tblPr>
              <a:tblGrid>
                <a:gridCol w="894675"/>
                <a:gridCol w="894675"/>
                <a:gridCol w="894675"/>
                <a:gridCol w="894675"/>
                <a:gridCol w="894675"/>
                <a:gridCol w="894675"/>
                <a:gridCol w="894675"/>
                <a:gridCol w="894675"/>
                <a:gridCol w="894675"/>
              </a:tblGrid>
              <a:tr h="355725">
                <a:tc rowSpan="2">
                  <a:txBody>
                    <a:bodyPr/>
                    <a:lstStyle/>
                    <a:p>
                      <a:pPr indent="0" lvl="0" marL="0" rtl="0" algn="l">
                        <a:spcBef>
                          <a:spcPts val="0"/>
                        </a:spcBef>
                        <a:spcAft>
                          <a:spcPts val="0"/>
                        </a:spcAft>
                        <a:buNone/>
                      </a:pPr>
                      <a:r>
                        <a:rPr lang="es" sz="900"/>
                        <a:t>Distribuciones</a:t>
                      </a:r>
                      <a:endParaRPr sz="900"/>
                    </a:p>
                  </a:txBody>
                  <a:tcPr marT="91425" marB="91425" marR="91425" marL="91425"/>
                </a:tc>
                <a:tc rowSpan="2">
                  <a:txBody>
                    <a:bodyPr/>
                    <a:lstStyle/>
                    <a:p>
                      <a:pPr indent="0" lvl="0" marL="0" rtl="0" algn="l">
                        <a:spcBef>
                          <a:spcPts val="0"/>
                        </a:spcBef>
                        <a:spcAft>
                          <a:spcPts val="0"/>
                        </a:spcAft>
                        <a:buNone/>
                      </a:pPr>
                      <a:r>
                        <a:rPr lang="es" sz="900"/>
                        <a:t>Nodos</a:t>
                      </a:r>
                      <a:endParaRPr sz="900"/>
                    </a:p>
                  </a:txBody>
                  <a:tcPr marT="91425" marB="91425" marR="91425" marL="91425"/>
                </a:tc>
                <a:tc gridSpan="7">
                  <a:txBody>
                    <a:bodyPr/>
                    <a:lstStyle/>
                    <a:p>
                      <a:pPr indent="0" lvl="0" marL="0" rtl="0" algn="ctr">
                        <a:spcBef>
                          <a:spcPts val="0"/>
                        </a:spcBef>
                        <a:spcAft>
                          <a:spcPts val="0"/>
                        </a:spcAft>
                        <a:buNone/>
                      </a:pPr>
                      <a:r>
                        <a:rPr lang="es" sz="900"/>
                        <a:t>Pods del benchmark</a:t>
                      </a:r>
                      <a:endParaRPr sz="900"/>
                    </a:p>
                  </a:txBody>
                  <a:tcPr marT="91425" marB="91425" marR="91425" marL="91425"/>
                </a:tc>
                <a:tc hMerge="1"/>
                <a:tc hMerge="1"/>
                <a:tc hMerge="1"/>
                <a:tc hMerge="1"/>
                <a:tc hMerge="1"/>
                <a:tc hMerge="1"/>
              </a:tr>
              <a:tr h="314675">
                <a:tc vMerge="1"/>
                <a:tc vMerge="1"/>
                <a:tc>
                  <a:txBody>
                    <a:bodyPr/>
                    <a:lstStyle/>
                    <a:p>
                      <a:pPr indent="0" lvl="0" marL="0" rtl="0" algn="l">
                        <a:spcBef>
                          <a:spcPts val="0"/>
                        </a:spcBef>
                        <a:spcAft>
                          <a:spcPts val="0"/>
                        </a:spcAft>
                        <a:buNone/>
                      </a:pPr>
                      <a:r>
                        <a:rPr lang="es" sz="900"/>
                        <a:t>ts-persistence</a:t>
                      </a:r>
                      <a:endParaRPr sz="900"/>
                    </a:p>
                  </a:txBody>
                  <a:tcPr marT="91425" marB="91425" marR="91425" marL="91425"/>
                </a:tc>
                <a:tc>
                  <a:txBody>
                    <a:bodyPr/>
                    <a:lstStyle/>
                    <a:p>
                      <a:pPr indent="0" lvl="0" marL="0" rtl="0" algn="l">
                        <a:spcBef>
                          <a:spcPts val="0"/>
                        </a:spcBef>
                        <a:spcAft>
                          <a:spcPts val="0"/>
                        </a:spcAft>
                        <a:buNone/>
                      </a:pPr>
                      <a:r>
                        <a:rPr lang="es" sz="900"/>
                        <a:t>ts-recommender</a:t>
                      </a:r>
                      <a:endParaRPr sz="900"/>
                    </a:p>
                  </a:txBody>
                  <a:tcPr marT="91425" marB="91425" marR="91425" marL="91425"/>
                </a:tc>
                <a:tc>
                  <a:txBody>
                    <a:bodyPr/>
                    <a:lstStyle/>
                    <a:p>
                      <a:pPr indent="0" lvl="0" marL="0" rtl="0" algn="l">
                        <a:spcBef>
                          <a:spcPts val="0"/>
                        </a:spcBef>
                        <a:spcAft>
                          <a:spcPts val="0"/>
                        </a:spcAft>
                        <a:buNone/>
                      </a:pPr>
                      <a:r>
                        <a:rPr lang="es" sz="900"/>
                        <a:t>ts-auth</a:t>
                      </a:r>
                      <a:endParaRPr sz="900"/>
                    </a:p>
                  </a:txBody>
                  <a:tcPr marT="91425" marB="91425" marR="91425" marL="91425"/>
                </a:tc>
                <a:tc>
                  <a:txBody>
                    <a:bodyPr/>
                    <a:lstStyle/>
                    <a:p>
                      <a:pPr indent="0" lvl="0" marL="0" rtl="0" algn="l">
                        <a:spcBef>
                          <a:spcPts val="0"/>
                        </a:spcBef>
                        <a:spcAft>
                          <a:spcPts val="0"/>
                        </a:spcAft>
                        <a:buNone/>
                      </a:pPr>
                      <a:r>
                        <a:rPr lang="es" sz="900"/>
                        <a:t>ts-db</a:t>
                      </a:r>
                      <a:endParaRPr sz="900"/>
                    </a:p>
                  </a:txBody>
                  <a:tcPr marT="91425" marB="91425" marR="91425" marL="91425"/>
                </a:tc>
                <a:tc>
                  <a:txBody>
                    <a:bodyPr/>
                    <a:lstStyle/>
                    <a:p>
                      <a:pPr indent="0" lvl="0" marL="0" rtl="0" algn="l">
                        <a:spcBef>
                          <a:spcPts val="0"/>
                        </a:spcBef>
                        <a:spcAft>
                          <a:spcPts val="0"/>
                        </a:spcAft>
                        <a:buNone/>
                      </a:pPr>
                      <a:r>
                        <a:rPr lang="es" sz="900"/>
                        <a:t>ts-image</a:t>
                      </a:r>
                      <a:endParaRPr sz="900"/>
                    </a:p>
                  </a:txBody>
                  <a:tcPr marT="91425" marB="91425" marR="91425" marL="91425"/>
                </a:tc>
                <a:tc>
                  <a:txBody>
                    <a:bodyPr/>
                    <a:lstStyle/>
                    <a:p>
                      <a:pPr indent="0" lvl="0" marL="0" rtl="0" algn="l">
                        <a:spcBef>
                          <a:spcPts val="0"/>
                        </a:spcBef>
                        <a:spcAft>
                          <a:spcPts val="0"/>
                        </a:spcAft>
                        <a:buNone/>
                      </a:pPr>
                      <a:r>
                        <a:rPr lang="es" sz="900"/>
                        <a:t>ts-registry</a:t>
                      </a:r>
                      <a:endParaRPr sz="900"/>
                    </a:p>
                  </a:txBody>
                  <a:tcPr marT="91425" marB="91425" marR="91425" marL="91425"/>
                </a:tc>
                <a:tc>
                  <a:txBody>
                    <a:bodyPr/>
                    <a:lstStyle/>
                    <a:p>
                      <a:pPr indent="0" lvl="0" marL="0" rtl="0" algn="l">
                        <a:spcBef>
                          <a:spcPts val="0"/>
                        </a:spcBef>
                        <a:spcAft>
                          <a:spcPts val="0"/>
                        </a:spcAft>
                        <a:buNone/>
                      </a:pPr>
                      <a:r>
                        <a:rPr lang="es" sz="900"/>
                        <a:t>ts-webui</a:t>
                      </a:r>
                      <a:endParaRPr sz="900"/>
                    </a:p>
                  </a:txBody>
                  <a:tcPr marT="91425" marB="91425" marR="91425" marL="91425"/>
                </a:tc>
              </a:tr>
              <a:tr h="314675">
                <a:tc rowSpan="4">
                  <a:txBody>
                    <a:bodyPr/>
                    <a:lstStyle/>
                    <a:p>
                      <a:pPr indent="0" lvl="0" marL="0" rtl="0" algn="l">
                        <a:spcBef>
                          <a:spcPts val="0"/>
                        </a:spcBef>
                        <a:spcAft>
                          <a:spcPts val="0"/>
                        </a:spcAft>
                        <a:buNone/>
                      </a:pPr>
                      <a:r>
                        <a:rPr lang="es" sz="900">
                          <a:solidFill>
                            <a:schemeClr val="dk1"/>
                          </a:solidFill>
                        </a:rPr>
                        <a:t>Distribución A</a:t>
                      </a:r>
                      <a:endParaRPr sz="900"/>
                    </a:p>
                  </a:txBody>
                  <a:tcPr marT="91425" marB="91425" marR="91425" marL="91425"/>
                </a:tc>
                <a:tc>
                  <a:txBody>
                    <a:bodyPr/>
                    <a:lstStyle/>
                    <a:p>
                      <a:pPr indent="0" lvl="0" marL="0" rtl="0" algn="l">
                        <a:spcBef>
                          <a:spcPts val="0"/>
                        </a:spcBef>
                        <a:spcAft>
                          <a:spcPts val="0"/>
                        </a:spcAft>
                        <a:buNone/>
                      </a:pPr>
                      <a:r>
                        <a:rPr lang="es" sz="900"/>
                        <a:t>aspire</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23.59</a:t>
                      </a:r>
                      <a:endParaRPr sz="900"/>
                    </a:p>
                  </a:txBody>
                  <a:tcPr marT="91425" marB="91425" marR="91425" marL="91425"/>
                </a:tc>
                <a:tc>
                  <a:txBody>
                    <a:bodyPr/>
                    <a:lstStyle/>
                    <a:p>
                      <a:pPr indent="0" lvl="0" marL="0" rtl="0" algn="l">
                        <a:spcBef>
                          <a:spcPts val="0"/>
                        </a:spcBef>
                        <a:spcAft>
                          <a:spcPts val="0"/>
                        </a:spcAft>
                        <a:buNone/>
                      </a:pPr>
                      <a:r>
                        <a:rPr b="1" lang="es" sz="900"/>
                        <a:t>730.44</a:t>
                      </a:r>
                      <a:endParaRPr b="1"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92.64</a:t>
                      </a:r>
                      <a:endParaRPr sz="900"/>
                    </a:p>
                  </a:txBody>
                  <a:tcPr marT="91425" marB="91425" marR="91425" marL="91425"/>
                </a:tc>
              </a:tr>
              <a:tr h="314675">
                <a:tc vMerge="1"/>
                <a:tc>
                  <a:txBody>
                    <a:bodyPr/>
                    <a:lstStyle/>
                    <a:p>
                      <a:pPr indent="0" lvl="0" marL="0" rtl="0" algn="l">
                        <a:spcBef>
                          <a:spcPts val="0"/>
                        </a:spcBef>
                        <a:spcAft>
                          <a:spcPts val="0"/>
                        </a:spcAft>
                        <a:buNone/>
                      </a:pPr>
                      <a:r>
                        <a:rPr lang="es" sz="900"/>
                        <a:t>leo</a:t>
                      </a:r>
                      <a:endParaRPr sz="900"/>
                    </a:p>
                  </a:txBody>
                  <a:tcPr marT="91425" marB="91425" marR="91425" marL="91425"/>
                </a:tc>
                <a:tc>
                  <a:txBody>
                    <a:bodyPr/>
                    <a:lstStyle/>
                    <a:p>
                      <a:pPr indent="0" lvl="0" marL="0" rtl="0" algn="l">
                        <a:spcBef>
                          <a:spcPts val="0"/>
                        </a:spcBef>
                        <a:spcAft>
                          <a:spcPts val="0"/>
                        </a:spcAft>
                        <a:buNone/>
                      </a:pPr>
                      <a:r>
                        <a:rPr lang="es" sz="900"/>
                        <a:t>2.35</a:t>
                      </a:r>
                      <a:endParaRPr sz="900"/>
                    </a:p>
                  </a:txBody>
                  <a:tcPr marT="91425" marB="91425" marR="91425" marL="91425"/>
                </a:tc>
                <a:tc>
                  <a:txBody>
                    <a:bodyPr/>
                    <a:lstStyle/>
                    <a:p>
                      <a:pPr indent="0" lvl="0" marL="0" rtl="0" algn="l">
                        <a:spcBef>
                          <a:spcPts val="0"/>
                        </a:spcBef>
                        <a:spcAft>
                          <a:spcPts val="0"/>
                        </a:spcAft>
                        <a:buNone/>
                      </a:pPr>
                      <a:r>
                        <a:rPr b="1" lang="es" sz="900"/>
                        <a:t>39.05</a:t>
                      </a:r>
                      <a:endParaRPr b="1"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nitro</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scorpius</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b="1" lang="es" sz="900"/>
                        <a:t>16.93</a:t>
                      </a:r>
                      <a:endParaRPr b="1" sz="900"/>
                    </a:p>
                  </a:txBody>
                  <a:tcPr marT="91425" marB="91425" marR="91425" marL="91425"/>
                </a:tc>
                <a:tc>
                  <a:txBody>
                    <a:bodyPr/>
                    <a:lstStyle/>
                    <a:p>
                      <a:pPr indent="0" lvl="0" marL="0" rtl="0" algn="l">
                        <a:spcBef>
                          <a:spcPts val="0"/>
                        </a:spcBef>
                        <a:spcAft>
                          <a:spcPts val="0"/>
                        </a:spcAft>
                        <a:buNone/>
                      </a:pPr>
                      <a:r>
                        <a:rPr lang="es" sz="900"/>
                        <a:t>5.92</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rowSpan="4">
                  <a:txBody>
                    <a:bodyPr/>
                    <a:lstStyle/>
                    <a:p>
                      <a:pPr indent="0" lvl="0" marL="0" rtl="0" algn="l">
                        <a:spcBef>
                          <a:spcPts val="0"/>
                        </a:spcBef>
                        <a:spcAft>
                          <a:spcPts val="0"/>
                        </a:spcAft>
                        <a:buNone/>
                      </a:pPr>
                      <a:r>
                        <a:rPr lang="es" sz="900">
                          <a:solidFill>
                            <a:schemeClr val="dk1"/>
                          </a:solidFill>
                        </a:rPr>
                        <a:t>Distribución B</a:t>
                      </a:r>
                      <a:endParaRPr sz="9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 sz="900"/>
                        <a:t>aspire</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b="1" lang="es" sz="900"/>
                        <a:t>61.92</a:t>
                      </a:r>
                      <a:endParaRPr b="1"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57.52</a:t>
                      </a:r>
                      <a:endParaRPr sz="900"/>
                    </a:p>
                  </a:txBody>
                  <a:tcPr marT="91425" marB="91425" marR="91425" marL="91425"/>
                </a:tc>
                <a:tc>
                  <a:txBody>
                    <a:bodyPr/>
                    <a:lstStyle/>
                    <a:p>
                      <a:pPr indent="0" lvl="0" marL="0" rtl="0" algn="l">
                        <a:spcBef>
                          <a:spcPts val="0"/>
                        </a:spcBef>
                        <a:spcAft>
                          <a:spcPts val="0"/>
                        </a:spcAft>
                        <a:buNone/>
                      </a:pPr>
                      <a:r>
                        <a:rPr lang="es" sz="900"/>
                        <a:t>28.55</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leo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141.37</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b="1" lang="es" sz="900"/>
                        <a:t>394.42</a:t>
                      </a:r>
                      <a:endParaRPr b="1" sz="900"/>
                    </a:p>
                  </a:txBody>
                  <a:tcPr marT="91425" marB="91425" marR="91425" marL="91425"/>
                </a:tc>
              </a:tr>
              <a:tr h="314675">
                <a:tc vMerge="1"/>
                <a:tc>
                  <a:txBody>
                    <a:bodyPr/>
                    <a:lstStyle/>
                    <a:p>
                      <a:pPr indent="0" lvl="0" marL="0" rtl="0" algn="l">
                        <a:spcBef>
                          <a:spcPts val="0"/>
                        </a:spcBef>
                        <a:spcAft>
                          <a:spcPts val="0"/>
                        </a:spcAft>
                        <a:buNone/>
                      </a:pPr>
                      <a:r>
                        <a:rPr lang="es" sz="900"/>
                        <a:t>nitro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c>
                  <a:txBody>
                    <a:bodyPr/>
                    <a:lstStyle/>
                    <a:p>
                      <a:pPr indent="0" lvl="0" marL="0" rtl="0" algn="l">
                        <a:spcBef>
                          <a:spcPts val="0"/>
                        </a:spcBef>
                        <a:spcAft>
                          <a:spcPts val="0"/>
                        </a:spcAft>
                        <a:buNone/>
                      </a:pPr>
                      <a:r>
                        <a:rPr lang="es" sz="900"/>
                        <a:t>0</a:t>
                      </a:r>
                      <a:endParaRPr sz="900"/>
                    </a:p>
                  </a:txBody>
                  <a:tcPr marT="91425" marB="91425" marR="91425" marL="91425"/>
                </a:tc>
              </a:tr>
              <a:tr h="314675">
                <a:tc vMerge="1"/>
                <a:tc>
                  <a:txBody>
                    <a:bodyPr/>
                    <a:lstStyle/>
                    <a:p>
                      <a:pPr indent="0" lvl="0" marL="0" rtl="0" algn="l">
                        <a:spcBef>
                          <a:spcPts val="0"/>
                        </a:spcBef>
                        <a:spcAft>
                          <a:spcPts val="0"/>
                        </a:spcAft>
                        <a:buNone/>
                      </a:pPr>
                      <a:r>
                        <a:rPr lang="es" sz="900"/>
                        <a:t>scorpius</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s" sz="900"/>
                        <a:t>22.4</a:t>
                      </a:r>
                      <a:endParaRPr b="1"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0.82</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B cap="flat" cmpd="sng" w="9525">
                      <a:solidFill>
                        <a:srgbClr val="9E9E9E"/>
                      </a:solidFill>
                      <a:prstDash val="solid"/>
                      <a:round/>
                      <a:headEnd len="sm" w="sm" type="none"/>
                      <a:tailEnd len="sm" w="sm" type="none"/>
                    </a:lnB>
                  </a:tcPr>
                </a:tc>
              </a:tr>
              <a:tr h="314675">
                <a:tc rowSpan="4">
                  <a:txBody>
                    <a:bodyPr/>
                    <a:lstStyle/>
                    <a:p>
                      <a:pPr indent="0" lvl="0" marL="0" rtl="0" algn="l">
                        <a:spcBef>
                          <a:spcPts val="0"/>
                        </a:spcBef>
                        <a:spcAft>
                          <a:spcPts val="0"/>
                        </a:spcAft>
                        <a:buNone/>
                      </a:pPr>
                      <a:r>
                        <a:rPr lang="es" sz="900">
                          <a:solidFill>
                            <a:schemeClr val="dk1"/>
                          </a:solidFill>
                        </a:rPr>
                        <a:t>Distribución C</a:t>
                      </a:r>
                      <a:endParaRPr sz="9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 sz="900"/>
                        <a:t>aspire</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53.25</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s" sz="900"/>
                        <a:t>2261.94</a:t>
                      </a:r>
                      <a:endParaRPr b="1"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49.58</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14.3</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4675">
                <a:tc vMerge="1"/>
                <a:tc>
                  <a:txBody>
                    <a:bodyPr/>
                    <a:lstStyle/>
                    <a:p>
                      <a:pPr indent="0" lvl="0" marL="0" rtl="0" algn="l">
                        <a:spcBef>
                          <a:spcPts val="0"/>
                        </a:spcBef>
                        <a:spcAft>
                          <a:spcPts val="0"/>
                        </a:spcAft>
                        <a:buNone/>
                      </a:pPr>
                      <a:r>
                        <a:rPr lang="es" sz="900"/>
                        <a:t>leo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s" sz="900"/>
                        <a:t>14.47</a:t>
                      </a:r>
                      <a:endParaRPr b="1"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4675">
                <a:tc vMerge="1"/>
                <a:tc>
                  <a:txBody>
                    <a:bodyPr/>
                    <a:lstStyle/>
                    <a:p>
                      <a:pPr indent="0" lvl="0" marL="0" rtl="0" algn="l">
                        <a:spcBef>
                          <a:spcPts val="0"/>
                        </a:spcBef>
                        <a:spcAft>
                          <a:spcPts val="0"/>
                        </a:spcAft>
                        <a:buNone/>
                      </a:pPr>
                      <a:r>
                        <a:rPr lang="es" sz="900"/>
                        <a:t>nitro</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4675">
                <a:tc vMerge="1"/>
                <a:tc>
                  <a:txBody>
                    <a:bodyPr/>
                    <a:lstStyle/>
                    <a:p>
                      <a:pPr indent="0" lvl="0" marL="0" rtl="0" algn="l">
                        <a:spcBef>
                          <a:spcPts val="0"/>
                        </a:spcBef>
                        <a:spcAft>
                          <a:spcPts val="0"/>
                        </a:spcAft>
                        <a:buNone/>
                      </a:pPr>
                      <a:r>
                        <a:rPr lang="es" sz="900"/>
                        <a:t>scorpius</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13.02</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900"/>
                        <a:t>0</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s" sz="900"/>
                        <a:t>26.39</a:t>
                      </a:r>
                      <a:endParaRPr b="1"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1" name="Shape 351"/>
        <p:cNvGrpSpPr/>
        <p:nvPr/>
      </p:nvGrpSpPr>
      <p:grpSpPr>
        <a:xfrm>
          <a:off x="0" y="0"/>
          <a:ext cx="0" cy="0"/>
          <a:chOff x="0" y="0"/>
          <a:chExt cx="0" cy="0"/>
        </a:xfrm>
      </p:grpSpPr>
      <p:sp>
        <p:nvSpPr>
          <p:cNvPr id="352" name="Google Shape;35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alta - I</a:t>
            </a:r>
            <a:endParaRPr/>
          </a:p>
        </p:txBody>
      </p:sp>
      <p:pic>
        <p:nvPicPr>
          <p:cNvPr id="353" name="Google Shape;353;p55"/>
          <p:cNvPicPr preferRelativeResize="0"/>
          <p:nvPr/>
        </p:nvPicPr>
        <p:blipFill>
          <a:blip r:embed="rId3">
            <a:alphaModFix/>
          </a:blip>
          <a:stretch>
            <a:fillRect/>
          </a:stretch>
        </p:blipFill>
        <p:spPr>
          <a:xfrm>
            <a:off x="152400" y="1754350"/>
            <a:ext cx="8839200" cy="284049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7" name="Shape 357"/>
        <p:cNvGrpSpPr/>
        <p:nvPr/>
      </p:nvGrpSpPr>
      <p:grpSpPr>
        <a:xfrm>
          <a:off x="0" y="0"/>
          <a:ext cx="0" cy="0"/>
          <a:chOff x="0" y="0"/>
          <a:chExt cx="0" cy="0"/>
        </a:xfrm>
      </p:grpSpPr>
      <p:sp>
        <p:nvSpPr>
          <p:cNvPr id="358" name="Google Shape;358;p56"/>
          <p:cNvSpPr txBox="1"/>
          <p:nvPr>
            <p:ph type="title"/>
          </p:nvPr>
        </p:nvSpPr>
        <p:spPr>
          <a:xfrm>
            <a:off x="51925"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888"/>
              <a:t>Tiempo de Ejecución</a:t>
            </a:r>
            <a:endParaRPr b="1" sz="1800">
              <a:solidFill>
                <a:srgbClr val="222222"/>
              </a:solidFill>
              <a:highlight>
                <a:srgbClr val="FFFFFF"/>
              </a:highlight>
            </a:endParaRPr>
          </a:p>
        </p:txBody>
      </p:sp>
      <p:pic>
        <p:nvPicPr>
          <p:cNvPr id="359" name="Google Shape;359;p56"/>
          <p:cNvPicPr preferRelativeResize="0"/>
          <p:nvPr/>
        </p:nvPicPr>
        <p:blipFill>
          <a:blip r:embed="rId4">
            <a:alphaModFix/>
          </a:blip>
          <a:stretch>
            <a:fillRect/>
          </a:stretch>
        </p:blipFill>
        <p:spPr>
          <a:xfrm>
            <a:off x="4956950" y="709500"/>
            <a:ext cx="2781432" cy="4266000"/>
          </a:xfrm>
          <a:prstGeom prst="rect">
            <a:avLst/>
          </a:prstGeom>
          <a:noFill/>
          <a:ln>
            <a:noFill/>
          </a:ln>
        </p:spPr>
      </p:pic>
      <p:sp>
        <p:nvSpPr>
          <p:cNvPr id="360" name="Google Shape;360;p56"/>
          <p:cNvSpPr txBox="1"/>
          <p:nvPr/>
        </p:nvSpPr>
        <p:spPr>
          <a:xfrm>
            <a:off x="408525" y="1548150"/>
            <a:ext cx="30000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ESte grafico es de medicion de los pods en los 4 componentes,</a:t>
            </a:r>
            <a:r>
              <a:rPr lang="es" sz="1100">
                <a:solidFill>
                  <a:schemeClr val="dk1"/>
                </a:solidFill>
              </a:rPr>
              <a:t> vemos que el servicio de webu</a:t>
            </a:r>
            <a:r>
              <a:rPr lang="es" sz="1100">
                <a:solidFill>
                  <a:schemeClr val="dk1"/>
                </a:solidFill>
              </a:rPr>
              <a:t>i es el que mas consumio y despues el pod de auth, lo que corresponde a la accion que se hizo</a:t>
            </a:r>
            <a:r>
              <a:rPr lang="es" sz="1100">
                <a:solidFill>
                  <a:schemeClr val="dk1"/>
                </a:solidFill>
              </a:rPr>
              <a:t> en este experimento, la accion es que el usuario ingreso a la plataforma, hizo login y empezo a buscar productos, por ello tambien el recommender y servicio de imagenes apracen con consumo, luego en cada servicio es consistente el calico node que es el pod de las comunicaciones</a:t>
            </a:r>
            <a:r>
              <a:rPr lang="es" sz="1100">
                <a:solidFill>
                  <a:schemeClr val="dk1"/>
                </a:solidFill>
              </a:rPr>
              <a:t>.</a:t>
            </a:r>
            <a:endParaRPr sz="11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alta - II</a:t>
            </a:r>
            <a:endParaRPr/>
          </a:p>
        </p:txBody>
      </p:sp>
      <p:pic>
        <p:nvPicPr>
          <p:cNvPr id="366" name="Google Shape;366;p57"/>
          <p:cNvPicPr preferRelativeResize="0"/>
          <p:nvPr/>
        </p:nvPicPr>
        <p:blipFill>
          <a:blip r:embed="rId3">
            <a:alphaModFix/>
          </a:blip>
          <a:stretch>
            <a:fillRect/>
          </a:stretch>
        </p:blipFill>
        <p:spPr>
          <a:xfrm>
            <a:off x="0" y="1469106"/>
            <a:ext cx="9143999" cy="293843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sp>
        <p:nvSpPr>
          <p:cNvPr id="371" name="Google Shape;37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alta - III</a:t>
            </a:r>
            <a:endParaRPr/>
          </a:p>
        </p:txBody>
      </p:sp>
      <p:pic>
        <p:nvPicPr>
          <p:cNvPr id="372" name="Google Shape;372;p58"/>
          <p:cNvPicPr preferRelativeResize="0"/>
          <p:nvPr/>
        </p:nvPicPr>
        <p:blipFill>
          <a:blip r:embed="rId4">
            <a:alphaModFix/>
          </a:blip>
          <a:stretch>
            <a:fillRect/>
          </a:stretch>
        </p:blipFill>
        <p:spPr>
          <a:xfrm>
            <a:off x="152400" y="1754350"/>
            <a:ext cx="8839200" cy="284049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6" name="Shape 376"/>
        <p:cNvGrpSpPr/>
        <p:nvPr/>
      </p:nvGrpSpPr>
      <p:grpSpPr>
        <a:xfrm>
          <a:off x="0" y="0"/>
          <a:ext cx="0" cy="0"/>
          <a:chOff x="0" y="0"/>
          <a:chExt cx="0" cy="0"/>
        </a:xfrm>
      </p:grpSpPr>
      <p:sp>
        <p:nvSpPr>
          <p:cNvPr id="377" name="Google Shape;37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alta - IV</a:t>
            </a:r>
            <a:endParaRPr/>
          </a:p>
        </p:txBody>
      </p:sp>
      <p:pic>
        <p:nvPicPr>
          <p:cNvPr id="378" name="Google Shape;378;p59"/>
          <p:cNvPicPr preferRelativeResize="0"/>
          <p:nvPr/>
        </p:nvPicPr>
        <p:blipFill>
          <a:blip r:embed="rId4">
            <a:alphaModFix/>
          </a:blip>
          <a:stretch>
            <a:fillRect/>
          </a:stretch>
        </p:blipFill>
        <p:spPr>
          <a:xfrm>
            <a:off x="232600" y="1845975"/>
            <a:ext cx="8839200" cy="284049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2" name="Shape 382"/>
        <p:cNvGrpSpPr/>
        <p:nvPr/>
      </p:nvGrpSpPr>
      <p:grpSpPr>
        <a:xfrm>
          <a:off x="0" y="0"/>
          <a:ext cx="0" cy="0"/>
          <a:chOff x="0" y="0"/>
          <a:chExt cx="0" cy="0"/>
        </a:xfrm>
      </p:grpSpPr>
      <p:sp>
        <p:nvSpPr>
          <p:cNvPr id="383" name="Google Shape;38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 Escenarios de medición de componentes vs transacciones - carga alta</a:t>
            </a:r>
            <a:endParaRPr/>
          </a:p>
        </p:txBody>
      </p:sp>
      <p:sp>
        <p:nvSpPr>
          <p:cNvPr id="384" name="Google Shape;384;p60"/>
          <p:cNvSpPr txBox="1"/>
          <p:nvPr/>
        </p:nvSpPr>
        <p:spPr>
          <a:xfrm>
            <a:off x="301075" y="1644625"/>
            <a:ext cx="8442600" cy="3390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Promedio de requests en estado successful 1753 - 1.45%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requests en estado failed 613 - 0.5%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requests en estado dropped 118 593.5 - 98.025%</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CPU - 65%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RAM - 28.4%</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SD - 6.5%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NIC - 0.1%</a:t>
            </a:r>
            <a:endParaRPr sz="1800">
              <a:solidFill>
                <a:schemeClr val="dk2"/>
              </a:solidFill>
            </a:endParaRPr>
          </a:p>
        </p:txBody>
      </p:sp>
      <p:pic>
        <p:nvPicPr>
          <p:cNvPr id="385" name="Google Shape;385;p60"/>
          <p:cNvPicPr preferRelativeResize="0"/>
          <p:nvPr/>
        </p:nvPicPr>
        <p:blipFill>
          <a:blip r:embed="rId4">
            <a:alphaModFix/>
          </a:blip>
          <a:stretch>
            <a:fillRect/>
          </a:stretch>
        </p:blipFill>
        <p:spPr>
          <a:xfrm>
            <a:off x="4119836" y="1539848"/>
            <a:ext cx="6209725" cy="3266350"/>
          </a:xfrm>
          <a:prstGeom prst="rect">
            <a:avLst/>
          </a:prstGeom>
          <a:noFill/>
          <a:ln>
            <a:noFill/>
          </a:ln>
        </p:spPr>
      </p:pic>
      <p:pic>
        <p:nvPicPr>
          <p:cNvPr id="386" name="Google Shape;386;p60"/>
          <p:cNvPicPr preferRelativeResize="0"/>
          <p:nvPr/>
        </p:nvPicPr>
        <p:blipFill>
          <a:blip r:embed="rId5">
            <a:alphaModFix/>
          </a:blip>
          <a:stretch>
            <a:fillRect/>
          </a:stretch>
        </p:blipFill>
        <p:spPr>
          <a:xfrm>
            <a:off x="0" y="1582348"/>
            <a:ext cx="4524589" cy="3390900"/>
          </a:xfrm>
          <a:prstGeom prst="rect">
            <a:avLst/>
          </a:prstGeom>
          <a:noFill/>
          <a:ln>
            <a:noFill/>
          </a:ln>
        </p:spPr>
      </p:pic>
      <p:sp>
        <p:nvSpPr>
          <p:cNvPr id="387" name="Google Shape;387;p60"/>
          <p:cNvSpPr txBox="1"/>
          <p:nvPr/>
        </p:nvSpPr>
        <p:spPr>
          <a:xfrm>
            <a:off x="4242125" y="1115425"/>
            <a:ext cx="4835700" cy="21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ENERGIA TOTALES - NO EVOLUCION</a:t>
            </a:r>
            <a:endParaRPr sz="180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1" name="Shape 391"/>
        <p:cNvGrpSpPr/>
        <p:nvPr/>
      </p:nvGrpSpPr>
      <p:grpSpPr>
        <a:xfrm>
          <a:off x="0" y="0"/>
          <a:ext cx="0" cy="0"/>
          <a:chOff x="0" y="0"/>
          <a:chExt cx="0" cy="0"/>
        </a:xfrm>
      </p:grpSpPr>
      <p:sp>
        <p:nvSpPr>
          <p:cNvPr id="392" name="Google Shape;392;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media - I</a:t>
            </a:r>
            <a:endParaRPr/>
          </a:p>
        </p:txBody>
      </p:sp>
      <p:pic>
        <p:nvPicPr>
          <p:cNvPr id="393" name="Google Shape;393;p61"/>
          <p:cNvPicPr preferRelativeResize="0"/>
          <p:nvPr/>
        </p:nvPicPr>
        <p:blipFill>
          <a:blip r:embed="rId3">
            <a:alphaModFix/>
          </a:blip>
          <a:stretch>
            <a:fillRect/>
          </a:stretch>
        </p:blipFill>
        <p:spPr>
          <a:xfrm>
            <a:off x="209675" y="1571050"/>
            <a:ext cx="8839200" cy="284049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7" name="Shape 397"/>
        <p:cNvGrpSpPr/>
        <p:nvPr/>
      </p:nvGrpSpPr>
      <p:grpSpPr>
        <a:xfrm>
          <a:off x="0" y="0"/>
          <a:ext cx="0" cy="0"/>
          <a:chOff x="0" y="0"/>
          <a:chExt cx="0" cy="0"/>
        </a:xfrm>
      </p:grpSpPr>
      <p:sp>
        <p:nvSpPr>
          <p:cNvPr id="398" name="Google Shape;39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media - II</a:t>
            </a:r>
            <a:endParaRPr/>
          </a:p>
        </p:txBody>
      </p:sp>
      <p:pic>
        <p:nvPicPr>
          <p:cNvPr id="399" name="Google Shape;399;p62"/>
          <p:cNvPicPr preferRelativeResize="0"/>
          <p:nvPr/>
        </p:nvPicPr>
        <p:blipFill>
          <a:blip r:embed="rId3">
            <a:alphaModFix/>
          </a:blip>
          <a:stretch>
            <a:fillRect/>
          </a:stretch>
        </p:blipFill>
        <p:spPr>
          <a:xfrm>
            <a:off x="152400" y="1754375"/>
            <a:ext cx="8839200" cy="284049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3" name="Shape 403"/>
        <p:cNvGrpSpPr/>
        <p:nvPr/>
      </p:nvGrpSpPr>
      <p:grpSpPr>
        <a:xfrm>
          <a:off x="0" y="0"/>
          <a:ext cx="0" cy="0"/>
          <a:chOff x="0" y="0"/>
          <a:chExt cx="0" cy="0"/>
        </a:xfrm>
      </p:grpSpPr>
      <p:sp>
        <p:nvSpPr>
          <p:cNvPr id="404" name="Google Shape;40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media - III</a:t>
            </a:r>
            <a:endParaRPr/>
          </a:p>
        </p:txBody>
      </p:sp>
      <p:pic>
        <p:nvPicPr>
          <p:cNvPr id="405" name="Google Shape;405;p63"/>
          <p:cNvPicPr preferRelativeResize="0"/>
          <p:nvPr/>
        </p:nvPicPr>
        <p:blipFill>
          <a:blip r:embed="rId3">
            <a:alphaModFix/>
          </a:blip>
          <a:stretch>
            <a:fillRect/>
          </a:stretch>
        </p:blipFill>
        <p:spPr>
          <a:xfrm>
            <a:off x="152400" y="1811625"/>
            <a:ext cx="8839200" cy="284049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media - IV</a:t>
            </a:r>
            <a:endParaRPr/>
          </a:p>
        </p:txBody>
      </p:sp>
      <p:pic>
        <p:nvPicPr>
          <p:cNvPr id="411" name="Google Shape;411;p64"/>
          <p:cNvPicPr preferRelativeResize="0"/>
          <p:nvPr/>
        </p:nvPicPr>
        <p:blipFill>
          <a:blip r:embed="rId4">
            <a:alphaModFix/>
          </a:blip>
          <a:stretch>
            <a:fillRect/>
          </a:stretch>
        </p:blipFill>
        <p:spPr>
          <a:xfrm>
            <a:off x="152400" y="1880350"/>
            <a:ext cx="8839200" cy="284049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5" name="Shape 415"/>
        <p:cNvGrpSpPr/>
        <p:nvPr/>
      </p:nvGrpSpPr>
      <p:grpSpPr>
        <a:xfrm>
          <a:off x="0" y="0"/>
          <a:ext cx="0" cy="0"/>
          <a:chOff x="0" y="0"/>
          <a:chExt cx="0" cy="0"/>
        </a:xfrm>
      </p:grpSpPr>
      <p:sp>
        <p:nvSpPr>
          <p:cNvPr id="416" name="Google Shape;41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 Escenarios de medición de componentes vs transacciones - carga media</a:t>
            </a:r>
            <a:endParaRPr/>
          </a:p>
        </p:txBody>
      </p:sp>
      <p:sp>
        <p:nvSpPr>
          <p:cNvPr id="417" name="Google Shape;417;p65"/>
          <p:cNvSpPr txBox="1"/>
          <p:nvPr/>
        </p:nvSpPr>
        <p:spPr>
          <a:xfrm>
            <a:off x="301075" y="1644625"/>
            <a:ext cx="8442600" cy="3390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Promedio de requests en estado successful 1910 - 3.15%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requests en estado failed 439 - 0.7%</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reques</a:t>
            </a:r>
            <a:r>
              <a:rPr lang="es" sz="1800">
                <a:solidFill>
                  <a:schemeClr val="dk2"/>
                </a:solidFill>
              </a:rPr>
              <a:t>ts en estado dropped 58 110 - 96.11%</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CPU - 45.3%</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RAM - 24.35%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SD - 30.2%</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NIC - 0.1%</a:t>
            </a:r>
            <a:endParaRPr sz="18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1" name="Shape 421"/>
        <p:cNvGrpSpPr/>
        <p:nvPr/>
      </p:nvGrpSpPr>
      <p:grpSpPr>
        <a:xfrm>
          <a:off x="0" y="0"/>
          <a:ext cx="0" cy="0"/>
          <a:chOff x="0" y="0"/>
          <a:chExt cx="0" cy="0"/>
        </a:xfrm>
      </p:grpSpPr>
      <p:sp>
        <p:nvSpPr>
          <p:cNvPr id="422" name="Google Shape;422;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baja - I</a:t>
            </a:r>
            <a:endParaRPr/>
          </a:p>
        </p:txBody>
      </p:sp>
      <p:pic>
        <p:nvPicPr>
          <p:cNvPr id="423" name="Google Shape;423;p66"/>
          <p:cNvPicPr preferRelativeResize="0"/>
          <p:nvPr/>
        </p:nvPicPr>
        <p:blipFill>
          <a:blip r:embed="rId3">
            <a:alphaModFix/>
          </a:blip>
          <a:stretch>
            <a:fillRect/>
          </a:stretch>
        </p:blipFill>
        <p:spPr>
          <a:xfrm>
            <a:off x="152400" y="1777275"/>
            <a:ext cx="8839200" cy="284049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7" name="Shape 427"/>
        <p:cNvGrpSpPr/>
        <p:nvPr/>
      </p:nvGrpSpPr>
      <p:grpSpPr>
        <a:xfrm>
          <a:off x="0" y="0"/>
          <a:ext cx="0" cy="0"/>
          <a:chOff x="0" y="0"/>
          <a:chExt cx="0" cy="0"/>
        </a:xfrm>
      </p:grpSpPr>
      <p:sp>
        <p:nvSpPr>
          <p:cNvPr id="428" name="Google Shape;42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baja - II</a:t>
            </a:r>
            <a:endParaRPr/>
          </a:p>
        </p:txBody>
      </p:sp>
      <p:pic>
        <p:nvPicPr>
          <p:cNvPr id="429" name="Google Shape;429;p67"/>
          <p:cNvPicPr preferRelativeResize="0"/>
          <p:nvPr/>
        </p:nvPicPr>
        <p:blipFill>
          <a:blip r:embed="rId3">
            <a:alphaModFix/>
          </a:blip>
          <a:stretch>
            <a:fillRect/>
          </a:stretch>
        </p:blipFill>
        <p:spPr>
          <a:xfrm>
            <a:off x="152400" y="1823075"/>
            <a:ext cx="8839200" cy="284049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3" name="Shape 433"/>
        <p:cNvGrpSpPr/>
        <p:nvPr/>
      </p:nvGrpSpPr>
      <p:grpSpPr>
        <a:xfrm>
          <a:off x="0" y="0"/>
          <a:ext cx="0" cy="0"/>
          <a:chOff x="0" y="0"/>
          <a:chExt cx="0" cy="0"/>
        </a:xfrm>
      </p:grpSpPr>
      <p:sp>
        <p:nvSpPr>
          <p:cNvPr id="434" name="Google Shape;434;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baja - III</a:t>
            </a:r>
            <a:endParaRPr/>
          </a:p>
        </p:txBody>
      </p:sp>
      <p:pic>
        <p:nvPicPr>
          <p:cNvPr id="435" name="Google Shape;435;p68"/>
          <p:cNvPicPr preferRelativeResize="0"/>
          <p:nvPr/>
        </p:nvPicPr>
        <p:blipFill>
          <a:blip r:embed="rId3">
            <a:alphaModFix/>
          </a:blip>
          <a:stretch>
            <a:fillRect/>
          </a:stretch>
        </p:blipFill>
        <p:spPr>
          <a:xfrm>
            <a:off x="152400" y="1834550"/>
            <a:ext cx="8839200" cy="284049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9" name="Shape 439"/>
        <p:cNvGrpSpPr/>
        <p:nvPr/>
      </p:nvGrpSpPr>
      <p:grpSpPr>
        <a:xfrm>
          <a:off x="0" y="0"/>
          <a:ext cx="0" cy="0"/>
          <a:chOff x="0" y="0"/>
          <a:chExt cx="0" cy="0"/>
        </a:xfrm>
      </p:grpSpPr>
      <p:sp>
        <p:nvSpPr>
          <p:cNvPr id="440" name="Google Shape;440;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componentes vs transacciones - carga baja - IV</a:t>
            </a:r>
            <a:endParaRPr/>
          </a:p>
        </p:txBody>
      </p:sp>
      <p:pic>
        <p:nvPicPr>
          <p:cNvPr id="441" name="Google Shape;441;p69"/>
          <p:cNvPicPr preferRelativeResize="0"/>
          <p:nvPr/>
        </p:nvPicPr>
        <p:blipFill>
          <a:blip r:embed="rId4">
            <a:alphaModFix/>
          </a:blip>
          <a:stretch>
            <a:fillRect/>
          </a:stretch>
        </p:blipFill>
        <p:spPr>
          <a:xfrm>
            <a:off x="152400" y="1536700"/>
            <a:ext cx="8839200" cy="284049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5" name="Shape 445"/>
        <p:cNvGrpSpPr/>
        <p:nvPr/>
      </p:nvGrpSpPr>
      <p:grpSpPr>
        <a:xfrm>
          <a:off x="0" y="0"/>
          <a:ext cx="0" cy="0"/>
          <a:chOff x="0" y="0"/>
          <a:chExt cx="0" cy="0"/>
        </a:xfrm>
      </p:grpSpPr>
      <p:sp>
        <p:nvSpPr>
          <p:cNvPr id="446" name="Google Shape;44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 Escenarios de medición de componentes vs transacciones - carga baja</a:t>
            </a:r>
            <a:endParaRPr/>
          </a:p>
        </p:txBody>
      </p:sp>
      <p:sp>
        <p:nvSpPr>
          <p:cNvPr id="447" name="Google Shape;447;p70"/>
          <p:cNvSpPr txBox="1"/>
          <p:nvPr/>
        </p:nvSpPr>
        <p:spPr>
          <a:xfrm>
            <a:off x="301075" y="1644625"/>
            <a:ext cx="8442600" cy="3390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Promedio de requests en estado successful 1729 - 29.11%</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requests en estado failed 236 - 3.9%</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requests en estado dropped 3 974 - 66.91%</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CPU - 45.3%</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RAM - 24.35%</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SD - 30.2%</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Promedio de uso de NIC - 0.1%</a:t>
            </a:r>
            <a:endParaRPr sz="1800">
              <a:solidFill>
                <a:schemeClr val="dk2"/>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s" sz="1687">
                <a:latin typeface="Consolas"/>
                <a:ea typeface="Consolas"/>
                <a:cs typeface="Consolas"/>
                <a:sym typeface="Consolas"/>
              </a:rPr>
              <a:t>COMENTARIOS BETO - Aplicables para Microbench y para scheduler de Luis</a:t>
            </a:r>
            <a:endParaRPr sz="1687">
              <a:latin typeface="Consolas"/>
              <a:ea typeface="Consolas"/>
              <a:cs typeface="Consolas"/>
              <a:sym typeface="Consolas"/>
            </a:endParaRPr>
          </a:p>
        </p:txBody>
      </p:sp>
      <p:sp>
        <p:nvSpPr>
          <p:cNvPr id="453" name="Google Shape;453;p71"/>
          <p:cNvSpPr txBox="1"/>
          <p:nvPr/>
        </p:nvSpPr>
        <p:spPr>
          <a:xfrm>
            <a:off x="199475" y="1017725"/>
            <a:ext cx="8442600" cy="36696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Hacer que el controlplane sea schedulable (quitar taint)</a:t>
            </a:r>
            <a:endParaRPr sz="1000">
              <a:solidFill>
                <a:schemeClr val="dk2"/>
              </a:solidFill>
              <a:latin typeface="Ubuntu"/>
              <a:ea typeface="Ubuntu"/>
              <a:cs typeface="Ubuntu"/>
              <a:sym typeface="Ubuntu"/>
            </a:endParaRPr>
          </a:p>
          <a:p>
            <a:pPr indent="-292100" lvl="0" marL="4572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El punto de ataque inicial comienza obteniendo los 3 despliegues más probables de afinidad de todo el experimento (del todo y no </a:t>
            </a:r>
            <a:r>
              <a:rPr lang="es" sz="1000">
                <a:solidFill>
                  <a:schemeClr val="dk2"/>
                </a:solidFill>
                <a:latin typeface="Ubuntu"/>
                <a:ea typeface="Ubuntu"/>
                <a:cs typeface="Ubuntu"/>
                <a:sym typeface="Ubuntu"/>
              </a:rPr>
              <a:t>necesariamente por pod).</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Atacaremos el resto desde los aspectos funcionales y haremos explicaciones con criterios técnicos.</a:t>
            </a:r>
            <a:endParaRPr sz="1000">
              <a:solidFill>
                <a:schemeClr val="dk2"/>
              </a:solidFill>
              <a:latin typeface="Ubuntu"/>
              <a:ea typeface="Ubuntu"/>
              <a:cs typeface="Ubuntu"/>
              <a:sym typeface="Ubuntu"/>
            </a:endParaRPr>
          </a:p>
          <a:p>
            <a:pPr indent="-292100" lvl="0" marL="4572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Hacer una diapositiva y diagramas explicando los aspectos </a:t>
            </a:r>
            <a:r>
              <a:rPr b="1" lang="es" sz="1000">
                <a:solidFill>
                  <a:schemeClr val="dk2"/>
                </a:solidFill>
                <a:latin typeface="Ubuntu"/>
                <a:ea typeface="Ubuntu"/>
                <a:cs typeface="Ubuntu"/>
                <a:sym typeface="Ubuntu"/>
              </a:rPr>
              <a:t>funcionales</a:t>
            </a:r>
            <a:r>
              <a:rPr lang="es" sz="1000">
                <a:solidFill>
                  <a:schemeClr val="dk2"/>
                </a:solidFill>
                <a:latin typeface="Ubuntu"/>
                <a:ea typeface="Ubuntu"/>
                <a:cs typeface="Ubuntu"/>
                <a:sym typeface="Ubuntu"/>
              </a:rPr>
              <a:t> que involucra el experimento (secuencia de acciones):</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Qué operaciones hace el benchmark? (registrar cliente,  escribir base de datos, etc)</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Qué operaciones hace el scheduler (planificar, construir contenedor, establecer conexiones de red, etc).</a:t>
            </a:r>
            <a:endParaRPr sz="1000">
              <a:solidFill>
                <a:schemeClr val="dk2"/>
              </a:solidFill>
              <a:latin typeface="Ubuntu"/>
              <a:ea typeface="Ubuntu"/>
              <a:cs typeface="Ubuntu"/>
              <a:sym typeface="Ubuntu"/>
            </a:endParaRPr>
          </a:p>
          <a:p>
            <a:pPr indent="0" lvl="0" marL="914400" rtl="0" algn="l">
              <a:spcBef>
                <a:spcPts val="0"/>
              </a:spcBef>
              <a:spcAft>
                <a:spcPts val="0"/>
              </a:spcAft>
              <a:buNone/>
            </a:pPr>
            <a:r>
              <a:t/>
            </a:r>
            <a:endParaRPr sz="1000">
              <a:solidFill>
                <a:schemeClr val="dk2"/>
              </a:solidFill>
              <a:latin typeface="Ubuntu"/>
              <a:ea typeface="Ubuntu"/>
              <a:cs typeface="Ubuntu"/>
              <a:sym typeface="Ubuntu"/>
            </a:endParaRPr>
          </a:p>
          <a:p>
            <a:pPr indent="0" lvl="0" marL="0" rtl="0" algn="l">
              <a:spcBef>
                <a:spcPts val="0"/>
              </a:spcBef>
              <a:spcAft>
                <a:spcPts val="0"/>
              </a:spcAft>
              <a:buNone/>
            </a:pPr>
            <a:r>
              <a:rPr b="1" lang="es" sz="1000">
                <a:solidFill>
                  <a:schemeClr val="dk2"/>
                </a:solidFill>
                <a:latin typeface="Ubuntu"/>
                <a:ea typeface="Ubuntu"/>
                <a:cs typeface="Ubuntu"/>
                <a:sym typeface="Ubuntu"/>
              </a:rPr>
              <a:t>Variables a cruzar por cada despliegue más probable. </a:t>
            </a:r>
            <a:endParaRPr b="1" sz="1000">
              <a:solidFill>
                <a:schemeClr val="dk2"/>
              </a:solidFill>
              <a:latin typeface="Ubuntu"/>
              <a:ea typeface="Ubuntu"/>
              <a:cs typeface="Ubuntu"/>
              <a:sym typeface="Ubuntu"/>
            </a:endParaRPr>
          </a:p>
          <a:p>
            <a:pPr indent="0" lvl="0" marL="0" rtl="0" algn="l">
              <a:spcBef>
                <a:spcPts val="0"/>
              </a:spcBef>
              <a:spcAft>
                <a:spcPts val="0"/>
              </a:spcAft>
              <a:buNone/>
            </a:pPr>
            <a:r>
              <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Todas las variables de entrada y salida del benchmark (latencia, paquetes perdidos, usuarios simulados, throughput etc. )</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Costo energético por nodo y por componente - X</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Costo energético total por componente (los discos de las 5 máquinas, Los cpus de las 5 máquinas, etc.)  </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Costo energético por pod del benchmark - X</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Costo energético por pod o servicio de K8s (Ejemplo: Consumo del scheduler, calico o flannel para red, kubelet, etc.)</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Costo energético por aspecto funcional de sched + aspecto funcional del benchmark (grupos de pods). </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Tiempo total de experimento </a:t>
            </a:r>
            <a:endParaRPr sz="1000">
              <a:solidFill>
                <a:schemeClr val="dk2"/>
              </a:solidFill>
              <a:latin typeface="Ubuntu"/>
              <a:ea typeface="Ubuntu"/>
              <a:cs typeface="Ubuntu"/>
              <a:sym typeface="Ubuntu"/>
            </a:endParaRPr>
          </a:p>
          <a:p>
            <a:pPr indent="-292100" lvl="1" marL="914400" rtl="0" algn="l">
              <a:spcBef>
                <a:spcPts val="0"/>
              </a:spcBef>
              <a:spcAft>
                <a:spcPts val="0"/>
              </a:spcAft>
              <a:buClr>
                <a:schemeClr val="dk2"/>
              </a:buClr>
              <a:buSzPts val="1000"/>
              <a:buFont typeface="Ubuntu"/>
              <a:buChar char="-"/>
            </a:pPr>
            <a:r>
              <a:rPr lang="es" sz="1000">
                <a:solidFill>
                  <a:schemeClr val="dk2"/>
                </a:solidFill>
                <a:latin typeface="Ubuntu"/>
                <a:ea typeface="Ubuntu"/>
                <a:cs typeface="Ubuntu"/>
                <a:sym typeface="Ubuntu"/>
              </a:rPr>
              <a:t>Tiempo de ejecución por aspecto funcional. </a:t>
            </a:r>
            <a:endParaRPr sz="1000">
              <a:solidFill>
                <a:schemeClr val="dk2"/>
              </a:solidFill>
              <a:latin typeface="Ubuntu"/>
              <a:ea typeface="Ubuntu"/>
              <a:cs typeface="Ubuntu"/>
              <a:sym typeface="Ubuntu"/>
            </a:endParaRPr>
          </a:p>
          <a:p>
            <a:pPr indent="-292100" lvl="0" marL="457200" rtl="0" algn="l">
              <a:spcBef>
                <a:spcPts val="0"/>
              </a:spcBef>
              <a:spcAft>
                <a:spcPts val="0"/>
              </a:spcAft>
              <a:buClr>
                <a:schemeClr val="dk2"/>
              </a:buClr>
              <a:buSzPts val="1000"/>
              <a:buFont typeface="Ubuntu"/>
              <a:buChar char="-"/>
            </a:pPr>
            <a:r>
              <a:t/>
            </a:r>
            <a:endParaRPr sz="1000">
              <a:solidFill>
                <a:schemeClr val="dk2"/>
              </a:solidFill>
              <a:latin typeface="Ubuntu"/>
              <a:ea typeface="Ubuntu"/>
              <a:cs typeface="Ubuntu"/>
              <a:sym typeface="Ubuntu"/>
            </a:endParaRPr>
          </a:p>
          <a:p>
            <a:pPr indent="0" lvl="0" marL="0" rtl="0" algn="l">
              <a:spcBef>
                <a:spcPts val="0"/>
              </a:spcBef>
              <a:spcAft>
                <a:spcPts val="0"/>
              </a:spcAft>
              <a:buNone/>
            </a:pPr>
            <a:r>
              <a:rPr lang="es" sz="1000">
                <a:solidFill>
                  <a:schemeClr val="dk2"/>
                </a:solidFill>
                <a:latin typeface="Ubuntu"/>
                <a:ea typeface="Ubuntu"/>
                <a:cs typeface="Ubuntu"/>
                <a:sym typeface="Ubuntu"/>
              </a:rPr>
              <a:t>-&gt; Se debe considerar tendencias considerando escalabilidad. A más carga especificada en el input, ver evolución el en resto de Variables. </a:t>
            </a:r>
            <a:endParaRPr sz="1000">
              <a:solidFill>
                <a:schemeClr val="dk2"/>
              </a:solidFill>
              <a:latin typeface="Ubuntu"/>
              <a:ea typeface="Ubuntu"/>
              <a:cs typeface="Ubuntu"/>
              <a:sym typeface="Ubuntu"/>
            </a:endParaRPr>
          </a:p>
          <a:p>
            <a:pPr indent="0" lvl="0" marL="0" rtl="0" algn="l">
              <a:spcBef>
                <a:spcPts val="0"/>
              </a:spcBef>
              <a:spcAft>
                <a:spcPts val="0"/>
              </a:spcAft>
              <a:buNone/>
            </a:pPr>
            <a:r>
              <a:t/>
            </a:r>
            <a:endParaRPr b="1" sz="1000">
              <a:solidFill>
                <a:schemeClr val="dk2"/>
              </a:solidFill>
              <a:latin typeface="Ubuntu"/>
              <a:ea typeface="Ubuntu"/>
              <a:cs typeface="Ubuntu"/>
              <a:sym typeface="Ubuntu"/>
            </a:endParaRPr>
          </a:p>
          <a:p>
            <a:pPr indent="0" lvl="0" marL="0" rtl="0" algn="l">
              <a:spcBef>
                <a:spcPts val="0"/>
              </a:spcBef>
              <a:spcAft>
                <a:spcPts val="0"/>
              </a:spcAft>
              <a:buNone/>
            </a:pPr>
            <a:r>
              <a:t/>
            </a:r>
            <a:endParaRPr b="1" sz="1000">
              <a:solidFill>
                <a:schemeClr val="dk2"/>
              </a:solidFill>
              <a:latin typeface="Ubuntu"/>
              <a:ea typeface="Ubuntu"/>
              <a:cs typeface="Ubuntu"/>
              <a:sym typeface="Ubuntu"/>
            </a:endParaRPr>
          </a:p>
          <a:p>
            <a:pPr indent="-292100" lvl="0" marL="457200" rtl="0" algn="l">
              <a:spcBef>
                <a:spcPts val="0"/>
              </a:spcBef>
              <a:spcAft>
                <a:spcPts val="0"/>
              </a:spcAft>
              <a:buClr>
                <a:schemeClr val="dk2"/>
              </a:buClr>
              <a:buSzPts val="1000"/>
              <a:buFont typeface="Ubuntu"/>
              <a:buChar char="-"/>
            </a:pPr>
            <a:r>
              <a:t/>
            </a:r>
            <a:endParaRPr sz="1000">
              <a:solidFill>
                <a:schemeClr val="dk2"/>
              </a:solidFill>
              <a:latin typeface="Ubuntu"/>
              <a:ea typeface="Ubuntu"/>
              <a:cs typeface="Ubuntu"/>
              <a:sym typeface="Ubuntu"/>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7" name="Shape 457"/>
        <p:cNvGrpSpPr/>
        <p:nvPr/>
      </p:nvGrpSpPr>
      <p:grpSpPr>
        <a:xfrm>
          <a:off x="0" y="0"/>
          <a:ext cx="0" cy="0"/>
          <a:chOff x="0" y="0"/>
          <a:chExt cx="0" cy="0"/>
        </a:xfrm>
      </p:grpSpPr>
      <p:sp>
        <p:nvSpPr>
          <p:cNvPr id="458" name="Google Shape;458;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Servicios de teastore</a:t>
            </a:r>
            <a:endParaRPr/>
          </a:p>
        </p:txBody>
      </p:sp>
      <p:sp>
        <p:nvSpPr>
          <p:cNvPr id="459" name="Google Shape;459;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teastore-auth</a:t>
            </a:r>
            <a:endParaRPr/>
          </a:p>
          <a:p>
            <a:pPr indent="-342900" lvl="0" marL="457200" rtl="0" algn="l">
              <a:spcBef>
                <a:spcPts val="0"/>
              </a:spcBef>
              <a:spcAft>
                <a:spcPts val="0"/>
              </a:spcAft>
              <a:buSzPts val="1800"/>
              <a:buChar char="-"/>
            </a:pPr>
            <a:r>
              <a:rPr lang="es"/>
              <a:t>teastore-image</a:t>
            </a:r>
            <a:endParaRPr/>
          </a:p>
          <a:p>
            <a:pPr indent="-342900" lvl="0" marL="457200" rtl="0" algn="l">
              <a:spcBef>
                <a:spcPts val="0"/>
              </a:spcBef>
              <a:spcAft>
                <a:spcPts val="0"/>
              </a:spcAft>
              <a:buSzPts val="1800"/>
              <a:buChar char="-"/>
            </a:pPr>
            <a:r>
              <a:rPr lang="es"/>
              <a:t>teastore-persistence</a:t>
            </a:r>
            <a:endParaRPr/>
          </a:p>
          <a:p>
            <a:pPr indent="-342900" lvl="0" marL="457200" rtl="0" algn="l">
              <a:spcBef>
                <a:spcPts val="0"/>
              </a:spcBef>
              <a:spcAft>
                <a:spcPts val="0"/>
              </a:spcAft>
              <a:buSzPts val="1800"/>
              <a:buChar char="-"/>
            </a:pPr>
            <a:r>
              <a:rPr lang="es"/>
              <a:t>teastore-webui</a:t>
            </a:r>
            <a:endParaRPr/>
          </a:p>
          <a:p>
            <a:pPr indent="-342900" lvl="0" marL="457200" rtl="0" algn="l">
              <a:spcBef>
                <a:spcPts val="0"/>
              </a:spcBef>
              <a:spcAft>
                <a:spcPts val="0"/>
              </a:spcAft>
              <a:buSzPts val="1800"/>
              <a:buChar char="-"/>
            </a:pPr>
            <a:r>
              <a:rPr lang="es"/>
              <a:t>teastore-db</a:t>
            </a:r>
            <a:endParaRPr/>
          </a:p>
          <a:p>
            <a:pPr indent="-342900" lvl="0" marL="457200" rtl="0" algn="l">
              <a:spcBef>
                <a:spcPts val="0"/>
              </a:spcBef>
              <a:spcAft>
                <a:spcPts val="0"/>
              </a:spcAft>
              <a:buSzPts val="1800"/>
              <a:buChar char="-"/>
            </a:pPr>
            <a:r>
              <a:rPr lang="es"/>
              <a:t>teastore-recommender</a:t>
            </a:r>
            <a:endParaRPr/>
          </a:p>
          <a:p>
            <a:pPr indent="-342900" lvl="0" marL="457200" rtl="0" algn="l">
              <a:spcBef>
                <a:spcPts val="0"/>
              </a:spcBef>
              <a:spcAft>
                <a:spcPts val="0"/>
              </a:spcAft>
              <a:buSzPts val="1800"/>
              <a:buChar char="-"/>
            </a:pPr>
            <a:r>
              <a:rPr lang="es"/>
              <a:t>teastore-registry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s" sz="1687">
                <a:latin typeface="Consolas"/>
                <a:ea typeface="Consolas"/>
                <a:cs typeface="Consolas"/>
                <a:sym typeface="Consolas"/>
              </a:rPr>
              <a:t>Ejemplo de diagrama técnico </a:t>
            </a:r>
            <a:endParaRPr sz="1687">
              <a:latin typeface="Consolas"/>
              <a:ea typeface="Consolas"/>
              <a:cs typeface="Consolas"/>
              <a:sym typeface="Consolas"/>
            </a:endParaRPr>
          </a:p>
        </p:txBody>
      </p:sp>
      <p:pic>
        <p:nvPicPr>
          <p:cNvPr id="465" name="Google Shape;465;p73"/>
          <p:cNvPicPr preferRelativeResize="0"/>
          <p:nvPr/>
        </p:nvPicPr>
        <p:blipFill>
          <a:blip r:embed="rId3">
            <a:alphaModFix/>
          </a:blip>
          <a:stretch>
            <a:fillRect/>
          </a:stretch>
        </p:blipFill>
        <p:spPr>
          <a:xfrm>
            <a:off x="911525" y="1017725"/>
            <a:ext cx="5598433" cy="382097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s" sz="1687">
                <a:latin typeface="Consolas"/>
                <a:ea typeface="Consolas"/>
                <a:cs typeface="Consolas"/>
                <a:sym typeface="Consolas"/>
              </a:rPr>
              <a:t>Ejemplo de diagrama funcional</a:t>
            </a:r>
            <a:endParaRPr sz="1687">
              <a:latin typeface="Consolas"/>
              <a:ea typeface="Consolas"/>
              <a:cs typeface="Consolas"/>
              <a:sym typeface="Consolas"/>
            </a:endParaRPr>
          </a:p>
        </p:txBody>
      </p:sp>
      <p:pic>
        <p:nvPicPr>
          <p:cNvPr id="471" name="Google Shape;471;p74"/>
          <p:cNvPicPr preferRelativeResize="0"/>
          <p:nvPr/>
        </p:nvPicPr>
        <p:blipFill>
          <a:blip r:embed="rId3">
            <a:alphaModFix/>
          </a:blip>
          <a:stretch>
            <a:fillRect/>
          </a:stretch>
        </p:blipFill>
        <p:spPr>
          <a:xfrm>
            <a:off x="195350" y="1167775"/>
            <a:ext cx="8839200" cy="280795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5" name="Shape 475"/>
        <p:cNvGrpSpPr/>
        <p:nvPr/>
      </p:nvGrpSpPr>
      <p:grpSpPr>
        <a:xfrm>
          <a:off x="0" y="0"/>
          <a:ext cx="0" cy="0"/>
          <a:chOff x="0" y="0"/>
          <a:chExt cx="0" cy="0"/>
        </a:xfrm>
      </p:grpSpPr>
      <p:sp>
        <p:nvSpPr>
          <p:cNvPr id="476" name="Google Shape;476;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a:t>
            </a:r>
            <a:r>
              <a:rPr lang="es"/>
              <a:t>ón de CPU - carga alta</a:t>
            </a:r>
            <a:endParaRPr/>
          </a:p>
        </p:txBody>
      </p:sp>
      <p:pic>
        <p:nvPicPr>
          <p:cNvPr id="477" name="Google Shape;477;p75"/>
          <p:cNvPicPr preferRelativeResize="0"/>
          <p:nvPr/>
        </p:nvPicPr>
        <p:blipFill>
          <a:blip r:embed="rId4">
            <a:alphaModFix/>
          </a:blip>
          <a:stretch>
            <a:fillRect/>
          </a:stretch>
        </p:blipFill>
        <p:spPr>
          <a:xfrm>
            <a:off x="311700" y="1101025"/>
            <a:ext cx="7708598" cy="3820977"/>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1" name="Shape 481"/>
        <p:cNvGrpSpPr/>
        <p:nvPr/>
      </p:nvGrpSpPr>
      <p:grpSpPr>
        <a:xfrm>
          <a:off x="0" y="0"/>
          <a:ext cx="0" cy="0"/>
          <a:chOff x="0" y="0"/>
          <a:chExt cx="0" cy="0"/>
        </a:xfrm>
      </p:grpSpPr>
      <p:sp>
        <p:nvSpPr>
          <p:cNvPr id="482" name="Google Shape;482;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Escenario de medición de RAM - carga alta</a:t>
            </a:r>
            <a:endParaRPr/>
          </a:p>
        </p:txBody>
      </p:sp>
      <p:pic>
        <p:nvPicPr>
          <p:cNvPr id="483" name="Google Shape;483;p76"/>
          <p:cNvPicPr preferRelativeResize="0"/>
          <p:nvPr/>
        </p:nvPicPr>
        <p:blipFill>
          <a:blip r:embed="rId3">
            <a:alphaModFix/>
          </a:blip>
          <a:stretch>
            <a:fillRect/>
          </a:stretch>
        </p:blipFill>
        <p:spPr>
          <a:xfrm>
            <a:off x="152400" y="1170125"/>
            <a:ext cx="7708598" cy="38209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